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7"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embeddedFontLst>
    <p:embeddedFont>
      <p:font typeface="Montserrat" panose="00000500000000000000" pitchFamily="2" charset="-93"/>
      <p:regular r:id="rId35"/>
      <p:bold r:id="rId36"/>
      <p:italic r:id="rId37"/>
      <p:boldItalic r:id="rId38"/>
    </p:embeddedFont>
    <p:embeddedFont>
      <p:font typeface="Montserrat Medium" panose="00000600000000000000" pitchFamily="2" charset="-93"/>
      <p:regular r:id="rId39"/>
      <p:bold r:id="rId40"/>
      <p:italic r:id="rId41"/>
      <p:boldItalic r:id="rId42"/>
    </p:embeddedFont>
    <p:embeddedFont>
      <p:font typeface="Montserrat SemiBold" panose="00000700000000000000" pitchFamily="2" charset="-93"/>
      <p:regular r:id="rId43"/>
      <p:bold r:id="rId44"/>
      <p:italic r:id="rId45"/>
      <p:boldItalic r:id="rId46"/>
    </p:embeddedFont>
    <p:embeddedFont>
      <p:font typeface="Open Sans" panose="020B060603050402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58DF0C4-FC9D-46FB-A0C7-711C2C6CB1AF}">
  <a:tblStyle styleId="{058DF0C4-FC9D-46FB-A0C7-711C2C6CB1A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317"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8" name="Google Shape;30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3" name="Google Shape;35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a:extLst>
            <a:ext uri="{FF2B5EF4-FFF2-40B4-BE49-F238E27FC236}">
              <a16:creationId xmlns:a16="http://schemas.microsoft.com/office/drawing/2014/main" id="{31138BA8-DF62-9CAA-7FD4-CC7BD2919E97}"/>
            </a:ext>
          </a:extLst>
        </p:cNvPr>
        <p:cNvGrpSpPr/>
        <p:nvPr/>
      </p:nvGrpSpPr>
      <p:grpSpPr>
        <a:xfrm>
          <a:off x="0" y="0"/>
          <a:ext cx="0" cy="0"/>
          <a:chOff x="0" y="0"/>
          <a:chExt cx="0" cy="0"/>
        </a:xfrm>
      </p:grpSpPr>
      <p:sp>
        <p:nvSpPr>
          <p:cNvPr id="320" name="Google Shape;320;p13:notes">
            <a:extLst>
              <a:ext uri="{FF2B5EF4-FFF2-40B4-BE49-F238E27FC236}">
                <a16:creationId xmlns:a16="http://schemas.microsoft.com/office/drawing/2014/main" id="{686B03A5-2727-90BC-B81D-DAB400EF0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13:notes">
            <a:extLst>
              <a:ext uri="{FF2B5EF4-FFF2-40B4-BE49-F238E27FC236}">
                <a16:creationId xmlns:a16="http://schemas.microsoft.com/office/drawing/2014/main" id="{7715242E-8A59-B762-BCDE-63B37ABCCE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3765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8" name="Google Shape;37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4" name="Google Shape;444;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6" name="Google Shape;46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9" name="Google Shape;47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5" name="Google Shape;51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5" name="Google Shape;53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1" name="Google Shape;55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2" name="Google Shape;57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4" name="Google Shape;60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7" name="Google Shape;61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2" name="Google Shape;642;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2" name="Google Shape;68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0" name="Google Shape;70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7.png"/><Relationship Id="rId5" Type="http://schemas.openxmlformats.org/officeDocument/2006/relationships/image" Target="../media/image12.png"/><Relationship Id="rId10" Type="http://schemas.openxmlformats.org/officeDocument/2006/relationships/image" Target="../media/image16.png"/><Relationship Id="rId4" Type="http://schemas.openxmlformats.org/officeDocument/2006/relationships/image" Target="../media/image11.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7.png"/><Relationship Id="rId5" Type="http://schemas.openxmlformats.org/officeDocument/2006/relationships/image" Target="../media/image12.png"/><Relationship Id="rId10" Type="http://schemas.openxmlformats.org/officeDocument/2006/relationships/image" Target="../media/image19.png"/><Relationship Id="rId4" Type="http://schemas.openxmlformats.org/officeDocument/2006/relationships/image" Target="../media/image11.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0.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7.png"/><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image" Target="../media/image22.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0.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6.png"/><Relationship Id="rId4" Type="http://schemas.openxmlformats.org/officeDocument/2006/relationships/image" Target="../media/image29.png"/><Relationship Id="rId9"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4.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7.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png"/><Relationship Id="rId7"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5.png"/><Relationship Id="rId7"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7.png"/><Relationship Id="rId5" Type="http://schemas.openxmlformats.org/officeDocument/2006/relationships/image" Target="../media/image23.png"/><Relationship Id="rId10" Type="http://schemas.openxmlformats.org/officeDocument/2006/relationships/image" Target="../media/image43.png"/><Relationship Id="rId4" Type="http://schemas.openxmlformats.org/officeDocument/2006/relationships/image" Target="../media/image22.png"/><Relationship Id="rId9"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619750" y="1005205"/>
            <a:ext cx="952500" cy="762000"/>
          </a:xfrm>
          <a:prstGeom prst="rect">
            <a:avLst/>
          </a:prstGeom>
          <a:noFill/>
          <a:ln>
            <a:noFill/>
          </a:ln>
        </p:spPr>
      </p:pic>
      <p:sp>
        <p:nvSpPr>
          <p:cNvPr id="86" name="Google Shape;86;p13"/>
          <p:cNvSpPr txBox="1"/>
          <p:nvPr/>
        </p:nvSpPr>
        <p:spPr>
          <a:xfrm>
            <a:off x="1125378" y="1957705"/>
            <a:ext cx="9941242"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FFFFF"/>
                </a:solidFill>
                <a:latin typeface="Montserrat" panose="00000500000000000000" pitchFamily="2" charset="-93"/>
                <a:ea typeface="Montserrat"/>
                <a:cs typeface="Montserrat"/>
                <a:sym typeface="Montserrat"/>
              </a:rPr>
              <a:t>HỆ THỐNG CHẤM CÔNG TỰ ĐỘNG</a:t>
            </a:r>
            <a:endParaRPr>
              <a:latin typeface="Montserrat" panose="00000500000000000000" pitchFamily="2" charset="-93"/>
            </a:endParaRPr>
          </a:p>
        </p:txBody>
      </p:sp>
      <p:sp>
        <p:nvSpPr>
          <p:cNvPr id="87" name="Google Shape;87;p13"/>
          <p:cNvSpPr txBox="1"/>
          <p:nvPr/>
        </p:nvSpPr>
        <p:spPr>
          <a:xfrm>
            <a:off x="2170509" y="2795905"/>
            <a:ext cx="7850981"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0" i="0" u="none" strike="noStrike" cap="none">
                <a:solidFill>
                  <a:srgbClr val="F59E0B"/>
                </a:solidFill>
                <a:latin typeface="Montserrat" panose="00000500000000000000" pitchFamily="2" charset="-93"/>
                <a:ea typeface="Montserrat Medium"/>
                <a:cs typeface="Montserrat Medium"/>
                <a:sym typeface="Montserrat Medium"/>
              </a:rPr>
              <a:t>Sử Dụng Nhận Diện Khuôn Mặt (ArcFace &amp; ResNet-50)</a:t>
            </a:r>
            <a:endParaRPr>
              <a:latin typeface="Montserrat" panose="00000500000000000000" pitchFamily="2" charset="-93"/>
            </a:endParaRPr>
          </a:p>
        </p:txBody>
      </p:sp>
      <p:pic>
        <p:nvPicPr>
          <p:cNvPr id="17" name="Google Shape;86;p13" descr="image.png">
            <a:extLst>
              <a:ext uri="{FF2B5EF4-FFF2-40B4-BE49-F238E27FC236}">
                <a16:creationId xmlns:a16="http://schemas.microsoft.com/office/drawing/2014/main" id="{D3120224-C170-2142-3935-F0547F54694F}"/>
              </a:ext>
            </a:extLst>
          </p:cNvPr>
          <p:cNvPicPr preferRelativeResize="0"/>
          <p:nvPr/>
        </p:nvPicPr>
        <p:blipFill rotWithShape="1">
          <a:blip r:embed="rId5">
            <a:alphaModFix/>
          </a:blip>
          <a:srcRect/>
          <a:stretch/>
        </p:blipFill>
        <p:spPr>
          <a:xfrm>
            <a:off x="4033837" y="3371850"/>
            <a:ext cx="4124325" cy="2586990"/>
          </a:xfrm>
          <a:prstGeom prst="rect">
            <a:avLst/>
          </a:prstGeom>
          <a:noFill/>
          <a:ln>
            <a:noFill/>
          </a:ln>
        </p:spPr>
      </p:pic>
      <p:sp>
        <p:nvSpPr>
          <p:cNvPr id="19" name="Google Shape;89;p13">
            <a:extLst>
              <a:ext uri="{FF2B5EF4-FFF2-40B4-BE49-F238E27FC236}">
                <a16:creationId xmlns:a16="http://schemas.microsoft.com/office/drawing/2014/main" id="{97C5EAE7-5FFE-22C0-4D91-768A4F7005C2}"/>
              </a:ext>
            </a:extLst>
          </p:cNvPr>
          <p:cNvSpPr txBox="1"/>
          <p:nvPr/>
        </p:nvSpPr>
        <p:spPr>
          <a:xfrm>
            <a:off x="4452937" y="3562350"/>
            <a:ext cx="3522663"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E2E8F0"/>
                </a:solidFill>
                <a:latin typeface="Montserrat" panose="00000500000000000000" pitchFamily="2" charset="-93"/>
                <a:ea typeface="Inter"/>
                <a:cs typeface="Inter"/>
                <a:sym typeface="Inter"/>
              </a:rPr>
              <a:t>Báo cáo</a:t>
            </a:r>
            <a:r>
              <a:rPr lang="en-US" sz="1500" b="1">
                <a:solidFill>
                  <a:srgbClr val="E2E8F0"/>
                </a:solidFill>
                <a:latin typeface="Montserrat" panose="00000500000000000000" pitchFamily="2" charset="-93"/>
                <a:ea typeface="Inter"/>
                <a:cs typeface="Inter"/>
                <a:sym typeface="Inter"/>
              </a:rPr>
              <a:t> học phần:</a:t>
            </a:r>
            <a:r>
              <a:rPr lang="en-US" sz="1500" b="1" i="0" u="none" strike="noStrike" cap="none">
                <a:solidFill>
                  <a:srgbClr val="E2E8F0"/>
                </a:solidFill>
                <a:latin typeface="Montserrat" panose="00000500000000000000" pitchFamily="2" charset="-93"/>
                <a:ea typeface="Inter"/>
                <a:cs typeface="Inter"/>
                <a:sym typeface="Inter"/>
              </a:rPr>
              <a:t> Trí tuệ nhân tạo</a:t>
            </a:r>
            <a:endParaRPr>
              <a:latin typeface="Montserrat" panose="00000500000000000000" pitchFamily="2" charset="-93"/>
            </a:endParaRPr>
          </a:p>
        </p:txBody>
      </p:sp>
      <p:sp>
        <p:nvSpPr>
          <p:cNvPr id="21" name="Google Shape;90;p13">
            <a:extLst>
              <a:ext uri="{FF2B5EF4-FFF2-40B4-BE49-F238E27FC236}">
                <a16:creationId xmlns:a16="http://schemas.microsoft.com/office/drawing/2014/main" id="{0DF8A33D-8CE6-6DAB-FE8C-824D154689C4}"/>
              </a:ext>
            </a:extLst>
          </p:cNvPr>
          <p:cNvSpPr txBox="1"/>
          <p:nvPr/>
        </p:nvSpPr>
        <p:spPr>
          <a:xfrm>
            <a:off x="4452937" y="3914775"/>
            <a:ext cx="332422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E2E8F0"/>
                </a:solidFill>
                <a:latin typeface="Montserrat" panose="00000500000000000000" pitchFamily="2" charset="-93"/>
                <a:ea typeface="Inter"/>
                <a:cs typeface="Inter"/>
                <a:sym typeface="Inter"/>
              </a:rPr>
              <a:t>GVHD:</a:t>
            </a:r>
            <a:r>
              <a:rPr lang="en-US" sz="1500" b="0" i="0" u="none" strike="noStrike" cap="none">
                <a:solidFill>
                  <a:srgbClr val="E2E8F0"/>
                </a:solidFill>
                <a:latin typeface="Montserrat" panose="00000500000000000000" pitchFamily="2" charset="-93"/>
                <a:ea typeface="Inter"/>
                <a:cs typeface="Inter"/>
                <a:sym typeface="Inter"/>
              </a:rPr>
              <a:t> TS. Vũ Trọng Sinh</a:t>
            </a:r>
            <a:endParaRPr>
              <a:latin typeface="Montserrat" panose="00000500000000000000" pitchFamily="2" charset="-93"/>
            </a:endParaRPr>
          </a:p>
        </p:txBody>
      </p:sp>
      <p:sp>
        <p:nvSpPr>
          <p:cNvPr id="23" name="Google Shape;91;p13">
            <a:extLst>
              <a:ext uri="{FF2B5EF4-FFF2-40B4-BE49-F238E27FC236}">
                <a16:creationId xmlns:a16="http://schemas.microsoft.com/office/drawing/2014/main" id="{C57E351B-BBF5-3462-AD05-3569E5497D5F}"/>
              </a:ext>
            </a:extLst>
          </p:cNvPr>
          <p:cNvSpPr txBox="1"/>
          <p:nvPr/>
        </p:nvSpPr>
        <p:spPr>
          <a:xfrm>
            <a:off x="4452937" y="4267200"/>
            <a:ext cx="332422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E2E8F0"/>
                </a:solidFill>
                <a:latin typeface="Montserrat" panose="00000500000000000000" pitchFamily="2" charset="-93"/>
                <a:ea typeface="Inter"/>
                <a:cs typeface="Inter"/>
                <a:sym typeface="Inter"/>
              </a:rPr>
              <a:t>Nhóm thực hiện:</a:t>
            </a:r>
            <a:r>
              <a:rPr lang="en-US" sz="1500" b="0" i="0" u="none" strike="noStrike" cap="none">
                <a:solidFill>
                  <a:srgbClr val="E2E8F0"/>
                </a:solidFill>
                <a:latin typeface="Montserrat" panose="00000500000000000000" pitchFamily="2" charset="-93"/>
                <a:ea typeface="Inter"/>
                <a:cs typeface="Inter"/>
                <a:sym typeface="Inter"/>
              </a:rPr>
              <a:t> Nhóm 4</a:t>
            </a:r>
            <a:endParaRPr>
              <a:latin typeface="Montserrat" panose="00000500000000000000" pitchFamily="2" charset="-93"/>
            </a:endParaRPr>
          </a:p>
        </p:txBody>
      </p:sp>
      <p:sp>
        <p:nvSpPr>
          <p:cNvPr id="25" name="Google Shape;92;p13">
            <a:extLst>
              <a:ext uri="{FF2B5EF4-FFF2-40B4-BE49-F238E27FC236}">
                <a16:creationId xmlns:a16="http://schemas.microsoft.com/office/drawing/2014/main" id="{23BA8966-5C8B-E163-30B1-BAEE96868748}"/>
              </a:ext>
            </a:extLst>
          </p:cNvPr>
          <p:cNvSpPr txBox="1"/>
          <p:nvPr/>
        </p:nvSpPr>
        <p:spPr>
          <a:xfrm>
            <a:off x="4452937" y="4619625"/>
            <a:ext cx="332422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Montserrat" panose="00000500000000000000" pitchFamily="2" charset="-93"/>
                <a:ea typeface="Inter"/>
                <a:cs typeface="Inter"/>
                <a:sym typeface="Inter"/>
              </a:rPr>
              <a:t>• Hoàng Quang Đạt - 26A4040725</a:t>
            </a:r>
            <a:endParaRPr>
              <a:latin typeface="Montserrat" panose="00000500000000000000" pitchFamily="2" charset="-93"/>
            </a:endParaRPr>
          </a:p>
        </p:txBody>
      </p:sp>
      <p:sp>
        <p:nvSpPr>
          <p:cNvPr id="27" name="Google Shape;93;p13">
            <a:extLst>
              <a:ext uri="{FF2B5EF4-FFF2-40B4-BE49-F238E27FC236}">
                <a16:creationId xmlns:a16="http://schemas.microsoft.com/office/drawing/2014/main" id="{88D4756F-98AB-B5A4-52B6-197DBC5D7F12}"/>
              </a:ext>
            </a:extLst>
          </p:cNvPr>
          <p:cNvSpPr txBox="1"/>
          <p:nvPr/>
        </p:nvSpPr>
        <p:spPr>
          <a:xfrm>
            <a:off x="4452937" y="4972050"/>
            <a:ext cx="3705223"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Montserrat" panose="00000500000000000000" pitchFamily="2" charset="-93"/>
                <a:ea typeface="Inter"/>
                <a:cs typeface="Inter"/>
                <a:sym typeface="Inter"/>
              </a:rPr>
              <a:t>• Nguyễn Quang Duy - 26A4040720</a:t>
            </a:r>
            <a:endParaRPr>
              <a:latin typeface="Montserrat" panose="00000500000000000000" pitchFamily="2" charset="-93"/>
            </a:endParaRPr>
          </a:p>
        </p:txBody>
      </p:sp>
      <p:sp>
        <p:nvSpPr>
          <p:cNvPr id="29" name="Google Shape;94;p13">
            <a:extLst>
              <a:ext uri="{FF2B5EF4-FFF2-40B4-BE49-F238E27FC236}">
                <a16:creationId xmlns:a16="http://schemas.microsoft.com/office/drawing/2014/main" id="{A7CB2C31-7635-40B6-C3A0-F16BAD3FE5BE}"/>
              </a:ext>
            </a:extLst>
          </p:cNvPr>
          <p:cNvSpPr txBox="1"/>
          <p:nvPr/>
        </p:nvSpPr>
        <p:spPr>
          <a:xfrm>
            <a:off x="4433886" y="5514975"/>
            <a:ext cx="332422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Montserrat" panose="00000500000000000000" pitchFamily="2" charset="-93"/>
                <a:ea typeface="Inter"/>
                <a:cs typeface="Inter"/>
                <a:sym typeface="Inter"/>
              </a:rPr>
              <a:t>• Hoàng Gia Khiêm - 26A4041195</a:t>
            </a:r>
            <a:endParaRPr>
              <a:latin typeface="Montserrat" panose="00000500000000000000" pitchFamily="2" charset="-93"/>
            </a:endParaRPr>
          </a:p>
        </p:txBody>
      </p:sp>
      <p:sp>
        <p:nvSpPr>
          <p:cNvPr id="31" name="Google Shape;94;p13">
            <a:extLst>
              <a:ext uri="{FF2B5EF4-FFF2-40B4-BE49-F238E27FC236}">
                <a16:creationId xmlns:a16="http://schemas.microsoft.com/office/drawing/2014/main" id="{15E4B43D-1DE3-CA39-B98E-A3A44FC4C999}"/>
              </a:ext>
            </a:extLst>
          </p:cNvPr>
          <p:cNvSpPr txBox="1"/>
          <p:nvPr/>
        </p:nvSpPr>
        <p:spPr>
          <a:xfrm>
            <a:off x="4433886" y="5259943"/>
            <a:ext cx="3324225"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E2E8F0"/>
                </a:solidFill>
                <a:latin typeface="Montserrat" panose="00000500000000000000" pitchFamily="2" charset="-93"/>
                <a:ea typeface="Inter"/>
                <a:cs typeface="Inter"/>
                <a:sym typeface="Inter"/>
              </a:rPr>
              <a:t>• Đặng Trường Duy- 26A4040718</a:t>
            </a:r>
            <a:endParaRPr>
              <a:latin typeface="Montserrat" panose="00000500000000000000" pitchFamily="2" charset="-93"/>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762000"/>
            <a:ext cx="12192000" cy="6096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381000" y="147637"/>
            <a:ext cx="609600" cy="466725"/>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96" name="Google Shape;96;p14"/>
          <p:cNvSpPr txBox="1"/>
          <p:nvPr/>
        </p:nvSpPr>
        <p:spPr>
          <a:xfrm>
            <a:off x="2252662" y="2901255"/>
            <a:ext cx="8071008"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1E3A8A"/>
                </a:solidFill>
                <a:latin typeface="Montserrat"/>
                <a:ea typeface="Montserrat"/>
                <a:cs typeface="Montserrat"/>
                <a:sym typeface="Montserrat"/>
              </a:rPr>
              <a:t>CHƯƠNG 1: TỔNG QUAN ĐỀ TÀI</a:t>
            </a:r>
            <a:endParaRPr/>
          </a:p>
        </p:txBody>
      </p:sp>
      <p:sp>
        <p:nvSpPr>
          <p:cNvPr id="97" name="Google Shape;97;p14"/>
          <p:cNvSpPr/>
          <p:nvPr/>
        </p:nvSpPr>
        <p:spPr>
          <a:xfrm>
            <a:off x="5619750" y="3768030"/>
            <a:ext cx="952500" cy="4762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txBox="1"/>
          <p:nvPr/>
        </p:nvSpPr>
        <p:spPr>
          <a:xfrm>
            <a:off x="3971925" y="4272855"/>
            <a:ext cx="42481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Bối cảnh, Bài toán, Thách thức &amp; Khả năng ứng dụng</a:t>
            </a:r>
            <a:endParaRPr/>
          </a:p>
        </p:txBody>
      </p:sp>
      <p:sp>
        <p:nvSpPr>
          <p:cNvPr id="99" name="Google Shape;99;p14"/>
          <p:cNvSpPr txBox="1"/>
          <p:nvPr/>
        </p:nvSpPr>
        <p:spPr>
          <a:xfrm>
            <a:off x="1133475" y="200025"/>
            <a:ext cx="245745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r>
              <a:rPr lang="en-US" sz="1200" b="0" i="0" u="none" strike="noStrike" cap="none">
                <a:solidFill>
                  <a:srgbClr val="000000"/>
                </a:solidFill>
                <a:latin typeface="Open Sans"/>
                <a:ea typeface="Open Sans"/>
                <a:cs typeface="Open Sans"/>
                <a:sym typeface="Open Sans"/>
              </a:rPr>
              <a:t> </a:t>
            </a:r>
            <a:r>
              <a:rPr lang="en-US" sz="1200" b="0" i="0" u="none" strike="noStrike" cap="none">
                <a:solidFill>
                  <a:srgbClr val="94A3B8"/>
                </a:solidFill>
                <a:latin typeface="Open Sans"/>
                <a:ea typeface="Open Sans"/>
                <a:cs typeface="Open Sans"/>
                <a:sym typeface="Open Sans"/>
              </a:rPr>
              <a:t>BANKING ACADEMY OF VIETNAM</a:t>
            </a:r>
            <a:endParaRPr/>
          </a:p>
        </p:txBody>
      </p:sp>
      <p:pic>
        <p:nvPicPr>
          <p:cNvPr id="3" name="Picture 2" descr="Thông báo">
            <a:extLst>
              <a:ext uri="{FF2B5EF4-FFF2-40B4-BE49-F238E27FC236}">
                <a16:creationId xmlns:a16="http://schemas.microsoft.com/office/drawing/2014/main" id="{06BE437B-47CC-A67E-6675-B56413BDC36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pic>
        <p:nvPicPr>
          <p:cNvPr id="106" name="Google Shape;106;p15"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107" name="Google Shape;107;p15" descr="image.png"/>
          <p:cNvPicPr preferRelativeResize="0"/>
          <p:nvPr/>
        </p:nvPicPr>
        <p:blipFill rotWithShape="1">
          <a:blip r:embed="rId4">
            <a:alphaModFix/>
          </a:blip>
          <a:srcRect/>
          <a:stretch/>
        </p:blipFill>
        <p:spPr>
          <a:xfrm>
            <a:off x="571500" y="1971675"/>
            <a:ext cx="5286375" cy="4505325"/>
          </a:xfrm>
          <a:prstGeom prst="rect">
            <a:avLst/>
          </a:prstGeom>
          <a:noFill/>
          <a:ln>
            <a:noFill/>
          </a:ln>
        </p:spPr>
      </p:pic>
      <p:pic>
        <p:nvPicPr>
          <p:cNvPr id="108" name="Google Shape;108;p15" descr="image.png"/>
          <p:cNvPicPr preferRelativeResize="0"/>
          <p:nvPr/>
        </p:nvPicPr>
        <p:blipFill rotWithShape="1">
          <a:blip r:embed="rId4">
            <a:alphaModFix/>
          </a:blip>
          <a:srcRect/>
          <a:stretch/>
        </p:blipFill>
        <p:spPr>
          <a:xfrm>
            <a:off x="6334125" y="1971675"/>
            <a:ext cx="5286375" cy="4505325"/>
          </a:xfrm>
          <a:prstGeom prst="rect">
            <a:avLst/>
          </a:prstGeom>
          <a:noFill/>
          <a:ln>
            <a:noFill/>
          </a:ln>
        </p:spPr>
      </p:pic>
      <p:pic>
        <p:nvPicPr>
          <p:cNvPr id="109" name="Google Shape;109;p15"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110" name="Google Shape;110;p15"/>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 name="Google Shape;111;p15"/>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112" name="Google Shape;112;p15"/>
          <p:cNvSpPr txBox="1"/>
          <p:nvPr/>
        </p:nvSpPr>
        <p:spPr>
          <a:xfrm>
            <a:off x="571500" y="1143000"/>
            <a:ext cx="3370421"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Bối Cảnh Bài Toán</a:t>
            </a:r>
            <a:endParaRPr/>
          </a:p>
        </p:txBody>
      </p:sp>
      <p:sp>
        <p:nvSpPr>
          <p:cNvPr id="113" name="Google Shape;113;p15"/>
          <p:cNvSpPr/>
          <p:nvPr/>
        </p:nvSpPr>
        <p:spPr>
          <a:xfrm>
            <a:off x="571500" y="1657350"/>
            <a:ext cx="32099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 name="Google Shape;114;p15"/>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117" name="Google Shape;117;p15"/>
          <p:cNvSpPr txBox="1"/>
          <p:nvPr/>
        </p:nvSpPr>
        <p:spPr>
          <a:xfrm>
            <a:off x="904875" y="2257425"/>
            <a:ext cx="4900612" cy="276225"/>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Phương pháp truyền thống</a:t>
            </a:r>
            <a:endParaRPr/>
          </a:p>
        </p:txBody>
      </p:sp>
      <p:sp>
        <p:nvSpPr>
          <p:cNvPr id="118" name="Google Shape;118;p15"/>
          <p:cNvSpPr txBox="1"/>
          <p:nvPr/>
        </p:nvSpPr>
        <p:spPr>
          <a:xfrm>
            <a:off x="904875" y="2705100"/>
            <a:ext cx="466725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Doanh nghiệp hiện nay đang sử dụng thẻ từ, vân tay hoặc ký tên thủ công. Những phương pháp này dễ gây sai sót, tốn thời gian xếp hàng, và đặc biệt dễ bị gian lận (chấm công hộ).</a:t>
            </a:r>
            <a:endParaRPr/>
          </a:p>
        </p:txBody>
      </p:sp>
      <p:sp>
        <p:nvSpPr>
          <p:cNvPr id="119" name="Google Shape;119;p15"/>
          <p:cNvSpPr txBox="1"/>
          <p:nvPr/>
        </p:nvSpPr>
        <p:spPr>
          <a:xfrm>
            <a:off x="6667500" y="2257425"/>
            <a:ext cx="490061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Giải pháp AI</a:t>
            </a:r>
            <a:endParaRPr/>
          </a:p>
        </p:txBody>
      </p:sp>
      <p:sp>
        <p:nvSpPr>
          <p:cNvPr id="120" name="Google Shape;120;p15"/>
          <p:cNvSpPr txBox="1"/>
          <p:nvPr/>
        </p:nvSpPr>
        <p:spPr>
          <a:xfrm>
            <a:off x="6667500" y="2705100"/>
            <a:ext cx="466725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Áp dụng công nghệ nhận diện khuôn mặt giúp xác thực danh tính không tiếp xúc, tự động hóa ghi nhận thời gian, nâng cao độ chính xác và cải thiện hiệu quả quản trị nhân sự.</a:t>
            </a:r>
            <a:endParaRPr/>
          </a:p>
        </p:txBody>
      </p:sp>
      <p:pic>
        <p:nvPicPr>
          <p:cNvPr id="121" name="Google Shape;121;p15" descr="image.png"/>
          <p:cNvPicPr preferRelativeResize="0"/>
          <p:nvPr/>
        </p:nvPicPr>
        <p:blipFill rotWithShape="1">
          <a:blip r:embed="rId6">
            <a:alphaModFix/>
          </a:blip>
          <a:srcRect/>
          <a:stretch/>
        </p:blipFill>
        <p:spPr>
          <a:xfrm>
            <a:off x="904875" y="2276475"/>
            <a:ext cx="228600" cy="228600"/>
          </a:xfrm>
          <a:prstGeom prst="rect">
            <a:avLst/>
          </a:prstGeom>
          <a:noFill/>
          <a:ln>
            <a:noFill/>
          </a:ln>
        </p:spPr>
      </p:pic>
      <p:pic>
        <p:nvPicPr>
          <p:cNvPr id="3" name="Picture 2" descr="Thông báo">
            <a:extLst>
              <a:ext uri="{FF2B5EF4-FFF2-40B4-BE49-F238E27FC236}">
                <a16:creationId xmlns:a16="http://schemas.microsoft.com/office/drawing/2014/main" id="{3560FF3A-8654-FBD9-BC95-B9EC3DCF313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
        <p:cNvGrpSpPr/>
        <p:nvPr/>
      </p:nvGrpSpPr>
      <p:grpSpPr>
        <a:xfrm>
          <a:off x="0" y="0"/>
          <a:ext cx="0" cy="0"/>
          <a:chOff x="0" y="0"/>
          <a:chExt cx="0" cy="0"/>
        </a:xfrm>
      </p:grpSpPr>
      <p:pic>
        <p:nvPicPr>
          <p:cNvPr id="126" name="Google Shape;126;p16"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127" name="Google Shape;127;p16" descr="image.png"/>
          <p:cNvPicPr preferRelativeResize="0"/>
          <p:nvPr/>
        </p:nvPicPr>
        <p:blipFill rotWithShape="1">
          <a:blip r:embed="rId4">
            <a:alphaModFix/>
          </a:blip>
          <a:srcRect/>
          <a:stretch/>
        </p:blipFill>
        <p:spPr>
          <a:xfrm>
            <a:off x="2024062" y="3033712"/>
            <a:ext cx="2381250" cy="2381250"/>
          </a:xfrm>
          <a:prstGeom prst="rect">
            <a:avLst/>
          </a:prstGeom>
          <a:noFill/>
          <a:ln>
            <a:noFill/>
          </a:ln>
        </p:spPr>
      </p:pic>
      <p:pic>
        <p:nvPicPr>
          <p:cNvPr id="128" name="Google Shape;128;p16"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129" name="Google Shape;129;p16"/>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6"/>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131" name="Google Shape;131;p16"/>
          <p:cNvSpPr txBox="1"/>
          <p:nvPr/>
        </p:nvSpPr>
        <p:spPr>
          <a:xfrm>
            <a:off x="571500" y="1143000"/>
            <a:ext cx="3890486"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Bản Chất Bài Toán AI</a:t>
            </a:r>
            <a:endParaRPr/>
          </a:p>
        </p:txBody>
      </p:sp>
      <p:sp>
        <p:nvSpPr>
          <p:cNvPr id="132" name="Google Shape;132;p16"/>
          <p:cNvSpPr/>
          <p:nvPr/>
        </p:nvSpPr>
        <p:spPr>
          <a:xfrm>
            <a:off x="571500" y="1657350"/>
            <a:ext cx="37052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16"/>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136" name="Google Shape;136;p16"/>
          <p:cNvSpPr txBox="1"/>
          <p:nvPr/>
        </p:nvSpPr>
        <p:spPr>
          <a:xfrm>
            <a:off x="2405062" y="3729037"/>
            <a:ext cx="1619250" cy="666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5250" b="1" i="0" u="none" strike="noStrike" cap="none">
                <a:solidFill>
                  <a:srgbClr val="F59E0B"/>
                </a:solidFill>
                <a:latin typeface="Montserrat"/>
                <a:ea typeface="Montserrat"/>
                <a:cs typeface="Montserrat"/>
                <a:sym typeface="Montserrat"/>
              </a:rPr>
              <a:t>AI</a:t>
            </a:r>
            <a:endParaRPr/>
          </a:p>
        </p:txBody>
      </p:sp>
      <p:sp>
        <p:nvSpPr>
          <p:cNvPr id="137" name="Google Shape;137;p16"/>
          <p:cNvSpPr txBox="1"/>
          <p:nvPr/>
        </p:nvSpPr>
        <p:spPr>
          <a:xfrm>
            <a:off x="2405062" y="4491037"/>
            <a:ext cx="1619250"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FFFFFF"/>
                </a:solidFill>
                <a:latin typeface="Open Sans"/>
                <a:ea typeface="Open Sans"/>
                <a:cs typeface="Open Sans"/>
                <a:sym typeface="Open Sans"/>
              </a:rPr>
              <a:t>Thị Giác Máy Tính</a:t>
            </a:r>
            <a:endParaRPr/>
          </a:p>
        </p:txBody>
      </p:sp>
      <p:sp>
        <p:nvSpPr>
          <p:cNvPr id="138" name="Google Shape;138;p16"/>
          <p:cNvSpPr txBox="1"/>
          <p:nvPr/>
        </p:nvSpPr>
        <p:spPr>
          <a:xfrm>
            <a:off x="6334125" y="2445990"/>
            <a:ext cx="555069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Nhận Dạng Sinh Trắc Học</a:t>
            </a:r>
            <a:endParaRPr/>
          </a:p>
        </p:txBody>
      </p:sp>
      <p:sp>
        <p:nvSpPr>
          <p:cNvPr id="139" name="Google Shape;139;p16"/>
          <p:cNvSpPr txBox="1"/>
          <p:nvPr/>
        </p:nvSpPr>
        <p:spPr>
          <a:xfrm>
            <a:off x="6334125" y="2893665"/>
            <a:ext cx="528637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Hệ thống không chỉ phân loại đóng (Classification) mà giải quyết bài toán </a:t>
            </a:r>
            <a:r>
              <a:rPr lang="en-US" sz="1350" b="1" i="0" u="none" strike="noStrike" cap="none">
                <a:solidFill>
                  <a:srgbClr val="334155"/>
                </a:solidFill>
                <a:latin typeface="Open Sans"/>
                <a:ea typeface="Open Sans"/>
                <a:cs typeface="Open Sans"/>
                <a:sym typeface="Open Sans"/>
              </a:rPr>
              <a:t>Xác minh danh tính (Face Verification/Recognition)</a:t>
            </a:r>
            <a:r>
              <a:rPr lang="en-US" sz="1350" b="0" i="0" u="none" strike="noStrike" cap="none">
                <a:solidFill>
                  <a:srgbClr val="334155"/>
                </a:solidFill>
                <a:latin typeface="Open Sans"/>
                <a:ea typeface="Open Sans"/>
                <a:cs typeface="Open Sans"/>
                <a:sym typeface="Open Sans"/>
              </a:rPr>
              <a:t> với không gian mở.</a:t>
            </a:r>
            <a:endParaRPr/>
          </a:p>
        </p:txBody>
      </p:sp>
      <p:sp>
        <p:nvSpPr>
          <p:cNvPr id="140" name="Google Shape;140;p16"/>
          <p:cNvSpPr/>
          <p:nvPr/>
        </p:nvSpPr>
        <p:spPr>
          <a:xfrm>
            <a:off x="6334125" y="3907035"/>
            <a:ext cx="5286375" cy="1905000"/>
          </a:xfrm>
          <a:prstGeom prst="rect">
            <a:avLst/>
          </a:prstGeom>
          <a:solidFill>
            <a:srgbClr val="FEF3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16"/>
          <p:cNvSpPr txBox="1"/>
          <p:nvPr/>
        </p:nvSpPr>
        <p:spPr>
          <a:xfrm>
            <a:off x="6715125" y="4288035"/>
            <a:ext cx="4524375" cy="1143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1" u="none" strike="noStrike" cap="none">
                <a:solidFill>
                  <a:srgbClr val="92400E"/>
                </a:solidFill>
                <a:latin typeface="Open Sans"/>
                <a:ea typeface="Open Sans"/>
                <a:cs typeface="Open Sans"/>
                <a:sym typeface="Open Sans"/>
              </a:rPr>
              <a:t> Khi thêm nhân viên mới, hệ thống trích xuất vector đặc trưng (Embedding) và so khớp, không cần huấn luyện lại toàn bộ mô hình từ đầu. </a:t>
            </a:r>
            <a:endParaRPr/>
          </a:p>
        </p:txBody>
      </p:sp>
      <p:sp>
        <p:nvSpPr>
          <p:cNvPr id="142" name="Google Shape;142;p16"/>
          <p:cNvSpPr/>
          <p:nvPr/>
        </p:nvSpPr>
        <p:spPr>
          <a:xfrm>
            <a:off x="6334125" y="3907035"/>
            <a:ext cx="76200" cy="1905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Thông báo">
            <a:extLst>
              <a:ext uri="{FF2B5EF4-FFF2-40B4-BE49-F238E27FC236}">
                <a16:creationId xmlns:a16="http://schemas.microsoft.com/office/drawing/2014/main" id="{2DCBF86C-A41B-06F0-A418-015A4BAA7806}"/>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6"/>
        <p:cNvGrpSpPr/>
        <p:nvPr/>
      </p:nvGrpSpPr>
      <p:grpSpPr>
        <a:xfrm>
          <a:off x="0" y="0"/>
          <a:ext cx="0" cy="0"/>
          <a:chOff x="0" y="0"/>
          <a:chExt cx="0" cy="0"/>
        </a:xfrm>
      </p:grpSpPr>
      <p:pic>
        <p:nvPicPr>
          <p:cNvPr id="147" name="Google Shape;147;p17"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148" name="Google Shape;148;p17" descr="image.png"/>
          <p:cNvPicPr preferRelativeResize="0"/>
          <p:nvPr/>
        </p:nvPicPr>
        <p:blipFill rotWithShape="1">
          <a:blip r:embed="rId4">
            <a:alphaModFix/>
          </a:blip>
          <a:srcRect/>
          <a:stretch/>
        </p:blipFill>
        <p:spPr>
          <a:xfrm>
            <a:off x="571500" y="1971675"/>
            <a:ext cx="3492549" cy="2785020"/>
          </a:xfrm>
          <a:prstGeom prst="rect">
            <a:avLst/>
          </a:prstGeom>
          <a:noFill/>
          <a:ln>
            <a:noFill/>
          </a:ln>
        </p:spPr>
      </p:pic>
      <p:pic>
        <p:nvPicPr>
          <p:cNvPr id="149" name="Google Shape;149;p17" descr="image.png"/>
          <p:cNvPicPr preferRelativeResize="0"/>
          <p:nvPr/>
        </p:nvPicPr>
        <p:blipFill rotWithShape="1">
          <a:blip r:embed="rId5">
            <a:alphaModFix/>
          </a:blip>
          <a:srcRect/>
          <a:stretch/>
        </p:blipFill>
        <p:spPr>
          <a:xfrm>
            <a:off x="4349799" y="1971675"/>
            <a:ext cx="3492549" cy="2785020"/>
          </a:xfrm>
          <a:prstGeom prst="rect">
            <a:avLst/>
          </a:prstGeom>
          <a:noFill/>
          <a:ln>
            <a:noFill/>
          </a:ln>
        </p:spPr>
      </p:pic>
      <p:pic>
        <p:nvPicPr>
          <p:cNvPr id="150" name="Google Shape;150;p17" descr="image.png"/>
          <p:cNvPicPr preferRelativeResize="0"/>
          <p:nvPr/>
        </p:nvPicPr>
        <p:blipFill rotWithShape="1">
          <a:blip r:embed="rId6">
            <a:alphaModFix/>
          </a:blip>
          <a:srcRect/>
          <a:stretch/>
        </p:blipFill>
        <p:spPr>
          <a:xfrm>
            <a:off x="8128099" y="1971675"/>
            <a:ext cx="3492549" cy="2785020"/>
          </a:xfrm>
          <a:prstGeom prst="rect">
            <a:avLst/>
          </a:prstGeom>
          <a:noFill/>
          <a:ln>
            <a:noFill/>
          </a:ln>
        </p:spPr>
      </p:pic>
      <p:pic>
        <p:nvPicPr>
          <p:cNvPr id="151" name="Google Shape;151;p17" descr="image.png"/>
          <p:cNvPicPr preferRelativeResize="0"/>
          <p:nvPr/>
        </p:nvPicPr>
        <p:blipFill rotWithShape="1">
          <a:blip r:embed="rId7">
            <a:alphaModFix/>
          </a:blip>
          <a:srcRect/>
          <a:stretch/>
        </p:blipFill>
        <p:spPr>
          <a:xfrm>
            <a:off x="0" y="0"/>
            <a:ext cx="12192000" cy="762000"/>
          </a:xfrm>
          <a:prstGeom prst="rect">
            <a:avLst/>
          </a:prstGeom>
          <a:noFill/>
          <a:ln>
            <a:noFill/>
          </a:ln>
        </p:spPr>
      </p:pic>
      <p:sp>
        <p:nvSpPr>
          <p:cNvPr id="152" name="Google Shape;152;p17"/>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3" name="Google Shape;153;p17"/>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154" name="Google Shape;154;p17"/>
          <p:cNvSpPr txBox="1"/>
          <p:nvPr/>
        </p:nvSpPr>
        <p:spPr>
          <a:xfrm>
            <a:off x="571500" y="1143000"/>
            <a:ext cx="4460557"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Dữ Liệu Đầu Vào (Input)</a:t>
            </a:r>
            <a:endParaRPr/>
          </a:p>
        </p:txBody>
      </p:sp>
      <p:sp>
        <p:nvSpPr>
          <p:cNvPr id="155" name="Google Shape;155;p17"/>
          <p:cNvSpPr/>
          <p:nvPr/>
        </p:nvSpPr>
        <p:spPr>
          <a:xfrm>
            <a:off x="571500" y="1657350"/>
            <a:ext cx="42481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7"/>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159" name="Google Shape;159;p17"/>
          <p:cNvSpPr txBox="1"/>
          <p:nvPr/>
        </p:nvSpPr>
        <p:spPr>
          <a:xfrm>
            <a:off x="6942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Ảnh / Frame Realtime</a:t>
            </a:r>
            <a:endParaRPr/>
          </a:p>
        </p:txBody>
      </p:sp>
      <p:sp>
        <p:nvSpPr>
          <p:cNvPr id="160" name="Google Shape;160;p17"/>
          <p:cNvSpPr txBox="1"/>
          <p:nvPr/>
        </p:nvSpPr>
        <p:spPr>
          <a:xfrm>
            <a:off x="771525"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Ảnh RGB/BGR thu được từ webcam hoặc camera giám sát theo thời gian thực để phát hiện khuôn mặt.</a:t>
            </a:r>
            <a:endParaRPr/>
          </a:p>
        </p:txBody>
      </p:sp>
      <p:sp>
        <p:nvSpPr>
          <p:cNvPr id="161" name="Google Shape;161;p17"/>
          <p:cNvSpPr txBox="1"/>
          <p:nvPr/>
        </p:nvSpPr>
        <p:spPr>
          <a:xfrm>
            <a:off x="44725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Dữ Liệu Đăng Ký</a:t>
            </a:r>
            <a:endParaRPr/>
          </a:p>
        </p:txBody>
      </p:sp>
      <p:sp>
        <p:nvSpPr>
          <p:cNvPr id="162" name="Google Shape;162;p17"/>
          <p:cNvSpPr txBox="1"/>
          <p:nvPr/>
        </p:nvSpPr>
        <p:spPr>
          <a:xfrm>
            <a:off x="4549824"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Tập ảnh khuôn mặt của từng nhân viên đã thu thập từ trước để tạo cơ sở dữ liệu tham chiếu (Embeddings).</a:t>
            </a:r>
            <a:endParaRPr/>
          </a:p>
        </p:txBody>
      </p:sp>
      <p:sp>
        <p:nvSpPr>
          <p:cNvPr id="163" name="Google Shape;163;p17"/>
          <p:cNvSpPr txBox="1"/>
          <p:nvPr/>
        </p:nvSpPr>
        <p:spPr>
          <a:xfrm>
            <a:off x="8250811"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Tham Số Cấu Hình</a:t>
            </a:r>
            <a:endParaRPr/>
          </a:p>
        </p:txBody>
      </p:sp>
      <p:sp>
        <p:nvSpPr>
          <p:cNvPr id="164" name="Google Shape;164;p17"/>
          <p:cNvSpPr txBox="1"/>
          <p:nvPr/>
        </p:nvSpPr>
        <p:spPr>
          <a:xfrm>
            <a:off x="8328124"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Ngưỡng nhận diện (Threshold), thời gian cooldown, giờ làm việc quy định, mã thiết bị camera.</a:t>
            </a:r>
            <a:endParaRPr/>
          </a:p>
        </p:txBody>
      </p:sp>
      <p:pic>
        <p:nvPicPr>
          <p:cNvPr id="165" name="Google Shape;165;p17" descr="image.png"/>
          <p:cNvPicPr preferRelativeResize="0"/>
          <p:nvPr/>
        </p:nvPicPr>
        <p:blipFill rotWithShape="1">
          <a:blip r:embed="rId8">
            <a:alphaModFix/>
          </a:blip>
          <a:srcRect/>
          <a:stretch/>
        </p:blipFill>
        <p:spPr>
          <a:xfrm>
            <a:off x="2127200" y="2381250"/>
            <a:ext cx="381000" cy="381000"/>
          </a:xfrm>
          <a:prstGeom prst="rect">
            <a:avLst/>
          </a:prstGeom>
          <a:noFill/>
          <a:ln>
            <a:noFill/>
          </a:ln>
        </p:spPr>
      </p:pic>
      <p:pic>
        <p:nvPicPr>
          <p:cNvPr id="166" name="Google Shape;166;p17" descr="image.png"/>
          <p:cNvPicPr preferRelativeResize="0"/>
          <p:nvPr/>
        </p:nvPicPr>
        <p:blipFill rotWithShape="1">
          <a:blip r:embed="rId9">
            <a:alphaModFix/>
          </a:blip>
          <a:srcRect/>
          <a:stretch/>
        </p:blipFill>
        <p:spPr>
          <a:xfrm>
            <a:off x="5929312" y="2381250"/>
            <a:ext cx="333375" cy="381000"/>
          </a:xfrm>
          <a:prstGeom prst="rect">
            <a:avLst/>
          </a:prstGeom>
          <a:noFill/>
          <a:ln>
            <a:noFill/>
          </a:ln>
        </p:spPr>
      </p:pic>
      <p:pic>
        <p:nvPicPr>
          <p:cNvPr id="167" name="Google Shape;167;p17" descr="image.png"/>
          <p:cNvPicPr preferRelativeResize="0"/>
          <p:nvPr/>
        </p:nvPicPr>
        <p:blipFill rotWithShape="1">
          <a:blip r:embed="rId10">
            <a:alphaModFix/>
          </a:blip>
          <a:srcRect/>
          <a:stretch/>
        </p:blipFill>
        <p:spPr>
          <a:xfrm>
            <a:off x="9683799" y="2381250"/>
            <a:ext cx="381000" cy="381000"/>
          </a:xfrm>
          <a:prstGeom prst="rect">
            <a:avLst/>
          </a:prstGeom>
          <a:noFill/>
          <a:ln>
            <a:noFill/>
          </a:ln>
        </p:spPr>
      </p:pic>
      <p:pic>
        <p:nvPicPr>
          <p:cNvPr id="3" name="Picture 2" descr="Thông báo">
            <a:extLst>
              <a:ext uri="{FF2B5EF4-FFF2-40B4-BE49-F238E27FC236}">
                <a16:creationId xmlns:a16="http://schemas.microsoft.com/office/drawing/2014/main" id="{1CCB7517-CDFF-A34C-AA29-B4045182D630}"/>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pic>
        <p:nvPicPr>
          <p:cNvPr id="172" name="Google Shape;172;p18"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173" name="Google Shape;173;p18"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174" name="Google Shape;174;p18"/>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5" name="Google Shape;175;p18"/>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176" name="Google Shape;176;p18"/>
          <p:cNvSpPr txBox="1"/>
          <p:nvPr/>
        </p:nvSpPr>
        <p:spPr>
          <a:xfrm>
            <a:off x="571500" y="1143000"/>
            <a:ext cx="4590573"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Dữ Liệu Đầu Ra (Output)</a:t>
            </a:r>
            <a:endParaRPr/>
          </a:p>
        </p:txBody>
      </p:sp>
      <p:sp>
        <p:nvSpPr>
          <p:cNvPr id="177" name="Google Shape;177;p18"/>
          <p:cNvSpPr/>
          <p:nvPr/>
        </p:nvSpPr>
        <p:spPr>
          <a:xfrm>
            <a:off x="571500" y="1657350"/>
            <a:ext cx="437197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8" name="Google Shape;178;p18"/>
          <p:cNvSpPr txBox="1"/>
          <p:nvPr/>
        </p:nvSpPr>
        <p:spPr>
          <a:xfrm>
            <a:off x="571500" y="2143125"/>
            <a:ext cx="554355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Hệ thống trả về các thông tin xác thực sau quá trình xử lý và so khớp:</a:t>
            </a:r>
            <a:endParaRPr/>
          </a:p>
        </p:txBody>
      </p:sp>
      <p:graphicFrame>
        <p:nvGraphicFramePr>
          <p:cNvPr id="179" name="Google Shape;179;p18"/>
          <p:cNvGraphicFramePr/>
          <p:nvPr/>
        </p:nvGraphicFramePr>
        <p:xfrm>
          <a:off x="571500" y="2684115"/>
          <a:ext cx="11049000" cy="3386850"/>
        </p:xfrm>
        <a:graphic>
          <a:graphicData uri="http://schemas.openxmlformats.org/drawingml/2006/table">
            <a:tbl>
              <a:tblPr firstRow="1" bandRow="1">
                <a:noFill/>
                <a:tableStyleId>{058DF0C4-FC9D-46FB-A0C7-711C2C6CB1AF}</a:tableStyleId>
              </a:tblPr>
              <a:tblGrid>
                <a:gridCol w="2859875">
                  <a:extLst>
                    <a:ext uri="{9D8B030D-6E8A-4147-A177-3AD203B41FA5}">
                      <a16:colId xmlns:a16="http://schemas.microsoft.com/office/drawing/2014/main" val="20000"/>
                    </a:ext>
                  </a:extLst>
                </a:gridCol>
                <a:gridCol w="8189125">
                  <a:extLst>
                    <a:ext uri="{9D8B030D-6E8A-4147-A177-3AD203B41FA5}">
                      <a16:colId xmlns:a16="http://schemas.microsoft.com/office/drawing/2014/main" val="20001"/>
                    </a:ext>
                  </a:extLst>
                </a:gridCol>
              </a:tblGrid>
              <a:tr h="564475">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Trường Đầu Ra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Ý Nghĩa / Mô Tả</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extLst>
                  <a:ext uri="{0D108BD9-81ED-4DB2-BD59-A6C34878D82A}">
                    <a16:rowId xmlns:a16="http://schemas.microsoft.com/office/drawing/2014/main" val="10000"/>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employee_id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Mã nhân viên được hệ thống nhận diện thành công.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full_name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Họ tên đầy đủ của nhân viên.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check_time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Thời điểm thực hiện chấm công (Ngày/Giờ/Phút/Giây).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similarity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Điểm tương đồng (Cosine) hoặc độ tin cậy của kết quả.</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status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Thành công, Không xác định (Unknown), Giả mạo (Spoof).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80" name="Google Shape;180;p18"/>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181" name="Google Shape;181;p18"/>
          <p:cNvSpPr/>
          <p:nvPr/>
        </p:nvSpPr>
        <p:spPr>
          <a:xfrm>
            <a:off x="571500" y="3208883"/>
            <a:ext cx="28598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8"/>
          <p:cNvSpPr/>
          <p:nvPr/>
        </p:nvSpPr>
        <p:spPr>
          <a:xfrm>
            <a:off x="3431381" y="3208883"/>
            <a:ext cx="8189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8"/>
          <p:cNvSpPr/>
          <p:nvPr/>
        </p:nvSpPr>
        <p:spPr>
          <a:xfrm>
            <a:off x="571500" y="3778448"/>
            <a:ext cx="28598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8"/>
          <p:cNvSpPr/>
          <p:nvPr/>
        </p:nvSpPr>
        <p:spPr>
          <a:xfrm>
            <a:off x="3431381" y="3778448"/>
            <a:ext cx="8189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8"/>
          <p:cNvSpPr/>
          <p:nvPr/>
        </p:nvSpPr>
        <p:spPr>
          <a:xfrm>
            <a:off x="571500" y="4348013"/>
            <a:ext cx="28598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8"/>
          <p:cNvSpPr/>
          <p:nvPr/>
        </p:nvSpPr>
        <p:spPr>
          <a:xfrm>
            <a:off x="3431381" y="4348013"/>
            <a:ext cx="8189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8"/>
          <p:cNvSpPr/>
          <p:nvPr/>
        </p:nvSpPr>
        <p:spPr>
          <a:xfrm>
            <a:off x="571500" y="4917578"/>
            <a:ext cx="28598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8"/>
          <p:cNvSpPr/>
          <p:nvPr/>
        </p:nvSpPr>
        <p:spPr>
          <a:xfrm>
            <a:off x="3431381" y="4917578"/>
            <a:ext cx="8189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8"/>
          <p:cNvSpPr/>
          <p:nvPr/>
        </p:nvSpPr>
        <p:spPr>
          <a:xfrm>
            <a:off x="571500" y="5487144"/>
            <a:ext cx="28598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18"/>
          <p:cNvSpPr/>
          <p:nvPr/>
        </p:nvSpPr>
        <p:spPr>
          <a:xfrm>
            <a:off x="3431381" y="5487144"/>
            <a:ext cx="8189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3" name="Google Shape;193;p18"/>
          <p:cNvSpPr/>
          <p:nvPr/>
        </p:nvSpPr>
        <p:spPr>
          <a:xfrm>
            <a:off x="571500" y="6056709"/>
            <a:ext cx="285988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8"/>
          <p:cNvSpPr/>
          <p:nvPr/>
        </p:nvSpPr>
        <p:spPr>
          <a:xfrm>
            <a:off x="3431381" y="6056709"/>
            <a:ext cx="8189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Thông báo">
            <a:extLst>
              <a:ext uri="{FF2B5EF4-FFF2-40B4-BE49-F238E27FC236}">
                <a16:creationId xmlns:a16="http://schemas.microsoft.com/office/drawing/2014/main" id="{37647CD2-7A93-0058-C862-460076DA89E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pic>
        <p:nvPicPr>
          <p:cNvPr id="199" name="Google Shape;199;p19"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200" name="Google Shape;200;p19" descr="image.png"/>
          <p:cNvPicPr preferRelativeResize="0"/>
          <p:nvPr/>
        </p:nvPicPr>
        <p:blipFill rotWithShape="1">
          <a:blip r:embed="rId4">
            <a:alphaModFix/>
          </a:blip>
          <a:srcRect/>
          <a:stretch/>
        </p:blipFill>
        <p:spPr>
          <a:xfrm>
            <a:off x="571500" y="1971675"/>
            <a:ext cx="3492549" cy="2785020"/>
          </a:xfrm>
          <a:prstGeom prst="rect">
            <a:avLst/>
          </a:prstGeom>
          <a:noFill/>
          <a:ln>
            <a:noFill/>
          </a:ln>
        </p:spPr>
      </p:pic>
      <p:pic>
        <p:nvPicPr>
          <p:cNvPr id="201" name="Google Shape;201;p19" descr="image.png"/>
          <p:cNvPicPr preferRelativeResize="0"/>
          <p:nvPr/>
        </p:nvPicPr>
        <p:blipFill rotWithShape="1">
          <a:blip r:embed="rId5">
            <a:alphaModFix/>
          </a:blip>
          <a:srcRect/>
          <a:stretch/>
        </p:blipFill>
        <p:spPr>
          <a:xfrm>
            <a:off x="4349799" y="1971675"/>
            <a:ext cx="3492549" cy="2785020"/>
          </a:xfrm>
          <a:prstGeom prst="rect">
            <a:avLst/>
          </a:prstGeom>
          <a:noFill/>
          <a:ln>
            <a:noFill/>
          </a:ln>
        </p:spPr>
      </p:pic>
      <p:pic>
        <p:nvPicPr>
          <p:cNvPr id="202" name="Google Shape;202;p19" descr="image.png"/>
          <p:cNvPicPr preferRelativeResize="0"/>
          <p:nvPr/>
        </p:nvPicPr>
        <p:blipFill rotWithShape="1">
          <a:blip r:embed="rId6">
            <a:alphaModFix/>
          </a:blip>
          <a:srcRect/>
          <a:stretch/>
        </p:blipFill>
        <p:spPr>
          <a:xfrm>
            <a:off x="8128099" y="1971675"/>
            <a:ext cx="3492549" cy="2785020"/>
          </a:xfrm>
          <a:prstGeom prst="rect">
            <a:avLst/>
          </a:prstGeom>
          <a:noFill/>
          <a:ln>
            <a:noFill/>
          </a:ln>
        </p:spPr>
      </p:pic>
      <p:pic>
        <p:nvPicPr>
          <p:cNvPr id="203" name="Google Shape;203;p19" descr="image.png"/>
          <p:cNvPicPr preferRelativeResize="0"/>
          <p:nvPr/>
        </p:nvPicPr>
        <p:blipFill rotWithShape="1">
          <a:blip r:embed="rId7">
            <a:alphaModFix/>
          </a:blip>
          <a:srcRect/>
          <a:stretch/>
        </p:blipFill>
        <p:spPr>
          <a:xfrm>
            <a:off x="0" y="0"/>
            <a:ext cx="12192000" cy="762000"/>
          </a:xfrm>
          <a:prstGeom prst="rect">
            <a:avLst/>
          </a:prstGeom>
          <a:noFill/>
          <a:ln>
            <a:noFill/>
          </a:ln>
        </p:spPr>
      </p:pic>
      <p:sp>
        <p:nvSpPr>
          <p:cNvPr id="204" name="Google Shape;204;p19"/>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19"/>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206" name="Google Shape;206;p19"/>
          <p:cNvSpPr txBox="1"/>
          <p:nvPr/>
        </p:nvSpPr>
        <p:spPr>
          <a:xfrm>
            <a:off x="571500" y="1143000"/>
            <a:ext cx="4950618"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Thách Thức Trong Thực Tế</a:t>
            </a:r>
            <a:endParaRPr/>
          </a:p>
        </p:txBody>
      </p:sp>
      <p:sp>
        <p:nvSpPr>
          <p:cNvPr id="207" name="Google Shape;207;p19"/>
          <p:cNvSpPr/>
          <p:nvPr/>
        </p:nvSpPr>
        <p:spPr>
          <a:xfrm>
            <a:off x="571500" y="1657350"/>
            <a:ext cx="471487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19"/>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211" name="Google Shape;211;p19"/>
          <p:cNvSpPr txBox="1"/>
          <p:nvPr/>
        </p:nvSpPr>
        <p:spPr>
          <a:xfrm>
            <a:off x="6942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Môi Trường</a:t>
            </a:r>
            <a:endParaRPr/>
          </a:p>
        </p:txBody>
      </p:sp>
      <p:sp>
        <p:nvSpPr>
          <p:cNvPr id="212" name="Google Shape;212;p19"/>
          <p:cNvSpPr txBox="1"/>
          <p:nvPr/>
        </p:nvSpPr>
        <p:spPr>
          <a:xfrm>
            <a:off x="771525"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Sự biến thiên mạnh về ánh sáng (ngược sáng, chói) và nền cảnh phức tạp gây nhiễu.</a:t>
            </a:r>
            <a:endParaRPr/>
          </a:p>
        </p:txBody>
      </p:sp>
      <p:sp>
        <p:nvSpPr>
          <p:cNvPr id="213" name="Google Shape;213;p19"/>
          <p:cNvSpPr txBox="1"/>
          <p:nvPr/>
        </p:nvSpPr>
        <p:spPr>
          <a:xfrm>
            <a:off x="44725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Che Khuất</a:t>
            </a:r>
            <a:endParaRPr/>
          </a:p>
        </p:txBody>
      </p:sp>
      <p:sp>
        <p:nvSpPr>
          <p:cNvPr id="214" name="Google Shape;214;p19"/>
          <p:cNvSpPr txBox="1"/>
          <p:nvPr/>
        </p:nvSpPr>
        <p:spPr>
          <a:xfrm>
            <a:off x="4549824"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Người dùng đeo kính, khẩu trang, hoặc tóc che lấp các vùng đặc trưng quan trọng.</a:t>
            </a:r>
            <a:endParaRPr/>
          </a:p>
        </p:txBody>
      </p:sp>
      <p:sp>
        <p:nvSpPr>
          <p:cNvPr id="215" name="Google Shape;215;p19"/>
          <p:cNvSpPr txBox="1"/>
          <p:nvPr/>
        </p:nvSpPr>
        <p:spPr>
          <a:xfrm>
            <a:off x="8250811"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Giả Mạo &amp; Tốc Độ</a:t>
            </a:r>
            <a:endParaRPr/>
          </a:p>
        </p:txBody>
      </p:sp>
      <p:sp>
        <p:nvSpPr>
          <p:cNvPr id="216" name="Google Shape;216;p19"/>
          <p:cNvSpPr txBox="1"/>
          <p:nvPr/>
        </p:nvSpPr>
        <p:spPr>
          <a:xfrm>
            <a:off x="8328124"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Nguy cơ dùng ảnh/video phát lại (Spoofing) và yêu cầu xử lý Realtime tránh ùn tắc.</a:t>
            </a:r>
            <a:endParaRPr/>
          </a:p>
        </p:txBody>
      </p:sp>
      <p:pic>
        <p:nvPicPr>
          <p:cNvPr id="217" name="Google Shape;217;p19" descr="image.png"/>
          <p:cNvPicPr preferRelativeResize="0"/>
          <p:nvPr/>
        </p:nvPicPr>
        <p:blipFill rotWithShape="1">
          <a:blip r:embed="rId8">
            <a:alphaModFix/>
          </a:blip>
          <a:srcRect/>
          <a:stretch/>
        </p:blipFill>
        <p:spPr>
          <a:xfrm>
            <a:off x="2127200" y="2381250"/>
            <a:ext cx="381000" cy="381000"/>
          </a:xfrm>
          <a:prstGeom prst="rect">
            <a:avLst/>
          </a:prstGeom>
          <a:noFill/>
          <a:ln>
            <a:noFill/>
          </a:ln>
        </p:spPr>
      </p:pic>
      <p:pic>
        <p:nvPicPr>
          <p:cNvPr id="218" name="Google Shape;218;p19" descr="image.png"/>
          <p:cNvPicPr preferRelativeResize="0"/>
          <p:nvPr/>
        </p:nvPicPr>
        <p:blipFill rotWithShape="1">
          <a:blip r:embed="rId9">
            <a:alphaModFix/>
          </a:blip>
          <a:srcRect/>
          <a:stretch/>
        </p:blipFill>
        <p:spPr>
          <a:xfrm>
            <a:off x="5881687" y="2381250"/>
            <a:ext cx="428625" cy="381000"/>
          </a:xfrm>
          <a:prstGeom prst="rect">
            <a:avLst/>
          </a:prstGeom>
          <a:noFill/>
          <a:ln>
            <a:noFill/>
          </a:ln>
        </p:spPr>
      </p:pic>
      <p:pic>
        <p:nvPicPr>
          <p:cNvPr id="219" name="Google Shape;219;p19" descr="image.png"/>
          <p:cNvPicPr preferRelativeResize="0"/>
          <p:nvPr/>
        </p:nvPicPr>
        <p:blipFill rotWithShape="1">
          <a:blip r:embed="rId10">
            <a:alphaModFix/>
          </a:blip>
          <a:srcRect/>
          <a:stretch/>
        </p:blipFill>
        <p:spPr>
          <a:xfrm>
            <a:off x="9707612" y="2381250"/>
            <a:ext cx="333375" cy="381000"/>
          </a:xfrm>
          <a:prstGeom prst="rect">
            <a:avLst/>
          </a:prstGeom>
          <a:noFill/>
          <a:ln>
            <a:noFill/>
          </a:ln>
        </p:spPr>
      </p:pic>
      <p:pic>
        <p:nvPicPr>
          <p:cNvPr id="3" name="Picture 2" descr="Thông báo">
            <a:extLst>
              <a:ext uri="{FF2B5EF4-FFF2-40B4-BE49-F238E27FC236}">
                <a16:creationId xmlns:a16="http://schemas.microsoft.com/office/drawing/2014/main" id="{6E75B3B7-04B5-F495-0CD9-FAE28BEC52F2}"/>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3"/>
        <p:cNvGrpSpPr/>
        <p:nvPr/>
      </p:nvGrpSpPr>
      <p:grpSpPr>
        <a:xfrm>
          <a:off x="0" y="0"/>
          <a:ext cx="0" cy="0"/>
          <a:chOff x="0" y="0"/>
          <a:chExt cx="0" cy="0"/>
        </a:xfrm>
      </p:grpSpPr>
      <p:pic>
        <p:nvPicPr>
          <p:cNvPr id="224" name="Google Shape;224;p20"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225" name="Google Shape;225;p20"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226" name="Google Shape;226;p20"/>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0"/>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228" name="Google Shape;228;p20"/>
          <p:cNvSpPr txBox="1"/>
          <p:nvPr/>
        </p:nvSpPr>
        <p:spPr>
          <a:xfrm>
            <a:off x="571500" y="1143000"/>
            <a:ext cx="2940367"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Mục Tiêu Đề Tài</a:t>
            </a:r>
            <a:endParaRPr/>
          </a:p>
        </p:txBody>
      </p:sp>
      <p:sp>
        <p:nvSpPr>
          <p:cNvPr id="229" name="Google Shape;229;p20"/>
          <p:cNvSpPr/>
          <p:nvPr/>
        </p:nvSpPr>
        <p:spPr>
          <a:xfrm>
            <a:off x="571500" y="1657350"/>
            <a:ext cx="28003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20"/>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233" name="Google Shape;233;p20"/>
          <p:cNvSpPr txBox="1"/>
          <p:nvPr/>
        </p:nvSpPr>
        <p:spPr>
          <a:xfrm>
            <a:off x="952500" y="1971675"/>
            <a:ext cx="106680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Nghiên cứu mô hình AI:</a:t>
            </a:r>
            <a:r>
              <a:rPr lang="en-US" sz="1350" b="0" i="0" u="none" strike="noStrike" cap="none">
                <a:solidFill>
                  <a:srgbClr val="334155"/>
                </a:solidFill>
                <a:latin typeface="Open Sans"/>
                <a:ea typeface="Open Sans"/>
                <a:cs typeface="Open Sans"/>
                <a:sym typeface="Open Sans"/>
              </a:rPr>
              <a:t> Ứng dụng mô hình ArcFace kết hợp ResNet-50 để trích xuất embedding khuôn mặt 512 chiều có tính phân biệt cao.</a:t>
            </a:r>
            <a:endParaRPr/>
          </a:p>
        </p:txBody>
      </p:sp>
      <p:sp>
        <p:nvSpPr>
          <p:cNvPr id="234" name="Google Shape;234;p20"/>
          <p:cNvSpPr txBox="1"/>
          <p:nvPr/>
        </p:nvSpPr>
        <p:spPr>
          <a:xfrm>
            <a:off x="952500" y="2758380"/>
            <a:ext cx="10668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Xây dựng Pipeline:</a:t>
            </a:r>
            <a:r>
              <a:rPr lang="en-US" sz="1350" b="0" i="0" u="none" strike="noStrike" cap="none">
                <a:solidFill>
                  <a:srgbClr val="334155"/>
                </a:solidFill>
                <a:latin typeface="Open Sans"/>
                <a:ea typeface="Open Sans"/>
                <a:cs typeface="Open Sans"/>
                <a:sym typeface="Open Sans"/>
              </a:rPr>
              <a:t> Hoàn thiện luồng xử lý từ phát hiện (Detection), căn chỉnh (Alignment), chuẩn hóa đến so khớp.</a:t>
            </a:r>
            <a:endParaRPr/>
          </a:p>
        </p:txBody>
      </p:sp>
      <p:sp>
        <p:nvSpPr>
          <p:cNvPr id="235" name="Google Shape;235;p20"/>
          <p:cNvSpPr txBox="1"/>
          <p:nvPr/>
        </p:nvSpPr>
        <p:spPr>
          <a:xfrm>
            <a:off x="952500" y="3270795"/>
            <a:ext cx="10668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Phát triển hệ thống:</a:t>
            </a:r>
            <a:r>
              <a:rPr lang="en-US" sz="1350" b="0" i="0" u="none" strike="noStrike" cap="none">
                <a:solidFill>
                  <a:srgbClr val="334155"/>
                </a:solidFill>
                <a:latin typeface="Open Sans"/>
                <a:ea typeface="Open Sans"/>
                <a:cs typeface="Open Sans"/>
                <a:sym typeface="Open Sans"/>
              </a:rPr>
              <a:t> Xây dựng công cụ thu thập dữ liệu (Auto Capture) và hệ thống Web chấm công tự động.</a:t>
            </a:r>
            <a:endParaRPr/>
          </a:p>
        </p:txBody>
      </p:sp>
      <p:sp>
        <p:nvSpPr>
          <p:cNvPr id="236" name="Google Shape;236;p20"/>
          <p:cNvSpPr txBox="1"/>
          <p:nvPr/>
        </p:nvSpPr>
        <p:spPr>
          <a:xfrm>
            <a:off x="952500" y="3783210"/>
            <a:ext cx="10668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Đánh giá thực nghiệm:</a:t>
            </a:r>
            <a:r>
              <a:rPr lang="en-US" sz="1350" b="0" i="0" u="none" strike="noStrike" cap="none">
                <a:solidFill>
                  <a:srgbClr val="334155"/>
                </a:solidFill>
                <a:latin typeface="Open Sans"/>
                <a:ea typeface="Open Sans"/>
                <a:cs typeface="Open Sans"/>
                <a:sym typeface="Open Sans"/>
              </a:rPr>
              <a:t> Đo lường chất lượng qua các chỉ số Accuracy, Precision, Recall, F1-Score, FAR, FRR, EER.</a:t>
            </a:r>
            <a:endParaRPr/>
          </a:p>
        </p:txBody>
      </p:sp>
      <p:pic>
        <p:nvPicPr>
          <p:cNvPr id="237" name="Google Shape;237;p20" descr="image.png"/>
          <p:cNvPicPr preferRelativeResize="0"/>
          <p:nvPr/>
        </p:nvPicPr>
        <p:blipFill rotWithShape="1">
          <a:blip r:embed="rId5">
            <a:alphaModFix/>
          </a:blip>
          <a:srcRect/>
          <a:stretch/>
        </p:blipFill>
        <p:spPr>
          <a:xfrm>
            <a:off x="571500" y="2014537"/>
            <a:ext cx="171450" cy="200025"/>
          </a:xfrm>
          <a:prstGeom prst="rect">
            <a:avLst/>
          </a:prstGeom>
          <a:noFill/>
          <a:ln>
            <a:noFill/>
          </a:ln>
        </p:spPr>
      </p:pic>
      <p:pic>
        <p:nvPicPr>
          <p:cNvPr id="238" name="Google Shape;238;p20" descr="image.png"/>
          <p:cNvPicPr preferRelativeResize="0"/>
          <p:nvPr/>
        </p:nvPicPr>
        <p:blipFill rotWithShape="1">
          <a:blip r:embed="rId5">
            <a:alphaModFix/>
          </a:blip>
          <a:srcRect/>
          <a:stretch/>
        </p:blipFill>
        <p:spPr>
          <a:xfrm>
            <a:off x="571500" y="2801242"/>
            <a:ext cx="171450" cy="200025"/>
          </a:xfrm>
          <a:prstGeom prst="rect">
            <a:avLst/>
          </a:prstGeom>
          <a:noFill/>
          <a:ln>
            <a:noFill/>
          </a:ln>
        </p:spPr>
      </p:pic>
      <p:pic>
        <p:nvPicPr>
          <p:cNvPr id="239" name="Google Shape;239;p20" descr="image.png"/>
          <p:cNvPicPr preferRelativeResize="0"/>
          <p:nvPr/>
        </p:nvPicPr>
        <p:blipFill rotWithShape="1">
          <a:blip r:embed="rId5">
            <a:alphaModFix/>
          </a:blip>
          <a:srcRect/>
          <a:stretch/>
        </p:blipFill>
        <p:spPr>
          <a:xfrm>
            <a:off x="571500" y="3313658"/>
            <a:ext cx="171450" cy="200025"/>
          </a:xfrm>
          <a:prstGeom prst="rect">
            <a:avLst/>
          </a:prstGeom>
          <a:noFill/>
          <a:ln>
            <a:noFill/>
          </a:ln>
        </p:spPr>
      </p:pic>
      <p:pic>
        <p:nvPicPr>
          <p:cNvPr id="240" name="Google Shape;240;p20" descr="image.png"/>
          <p:cNvPicPr preferRelativeResize="0"/>
          <p:nvPr/>
        </p:nvPicPr>
        <p:blipFill rotWithShape="1">
          <a:blip r:embed="rId5">
            <a:alphaModFix/>
          </a:blip>
          <a:srcRect/>
          <a:stretch/>
        </p:blipFill>
        <p:spPr>
          <a:xfrm>
            <a:off x="571500" y="3826073"/>
            <a:ext cx="171450" cy="200025"/>
          </a:xfrm>
          <a:prstGeom prst="rect">
            <a:avLst/>
          </a:prstGeom>
          <a:noFill/>
          <a:ln>
            <a:noFill/>
          </a:ln>
        </p:spPr>
      </p:pic>
      <p:pic>
        <p:nvPicPr>
          <p:cNvPr id="3" name="Picture 2" descr="Thông báo">
            <a:extLst>
              <a:ext uri="{FF2B5EF4-FFF2-40B4-BE49-F238E27FC236}">
                <a16:creationId xmlns:a16="http://schemas.microsoft.com/office/drawing/2014/main" id="{24233DFC-91F3-CBD1-1443-DD2D67C5D8C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4"/>
        <p:cNvGrpSpPr/>
        <p:nvPr/>
      </p:nvGrpSpPr>
      <p:grpSpPr>
        <a:xfrm>
          <a:off x="0" y="0"/>
          <a:ext cx="0" cy="0"/>
          <a:chOff x="0" y="0"/>
          <a:chExt cx="0" cy="0"/>
        </a:xfrm>
      </p:grpSpPr>
      <p:pic>
        <p:nvPicPr>
          <p:cNvPr id="245" name="Google Shape;245;p21"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246" name="Google Shape;246;p21"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247" name="Google Shape;247;p21"/>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21"/>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249" name="Google Shape;249;p21"/>
          <p:cNvSpPr txBox="1"/>
          <p:nvPr/>
        </p:nvSpPr>
        <p:spPr>
          <a:xfrm>
            <a:off x="571500" y="1143000"/>
            <a:ext cx="3560445"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Phạm Vi Thực Hiện</a:t>
            </a:r>
            <a:endParaRPr/>
          </a:p>
        </p:txBody>
      </p:sp>
      <p:sp>
        <p:nvSpPr>
          <p:cNvPr id="250" name="Google Shape;250;p21"/>
          <p:cNvSpPr/>
          <p:nvPr/>
        </p:nvSpPr>
        <p:spPr>
          <a:xfrm>
            <a:off x="571500" y="1657350"/>
            <a:ext cx="339090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51" name="Google Shape;251;p21"/>
          <p:cNvGraphicFramePr/>
          <p:nvPr>
            <p:extLst>
              <p:ext uri="{D42A27DB-BD31-4B8C-83A1-F6EECF244321}">
                <p14:modId xmlns:p14="http://schemas.microsoft.com/office/powerpoint/2010/main" val="1120843771"/>
              </p:ext>
            </p:extLst>
          </p:nvPr>
        </p:nvGraphicFramePr>
        <p:xfrm>
          <a:off x="571500" y="2066925"/>
          <a:ext cx="11049000" cy="3386850"/>
        </p:xfrm>
        <a:graphic>
          <a:graphicData uri="http://schemas.openxmlformats.org/drawingml/2006/table">
            <a:tbl>
              <a:tblPr firstRow="1" bandRow="1">
                <a:noFill/>
                <a:tableStyleId>{058DF0C4-FC9D-46FB-A0C7-711C2C6CB1AF}</a:tableStyleId>
              </a:tblPr>
              <a:tblGrid>
                <a:gridCol w="2160250">
                  <a:extLst>
                    <a:ext uri="{9D8B030D-6E8A-4147-A177-3AD203B41FA5}">
                      <a16:colId xmlns:a16="http://schemas.microsoft.com/office/drawing/2014/main" val="20000"/>
                    </a:ext>
                  </a:extLst>
                </a:gridCol>
                <a:gridCol w="8888750">
                  <a:extLst>
                    <a:ext uri="{9D8B030D-6E8A-4147-A177-3AD203B41FA5}">
                      <a16:colId xmlns:a16="http://schemas.microsoft.com/office/drawing/2014/main" val="20001"/>
                    </a:ext>
                  </a:extLst>
                </a:gridCol>
              </a:tblGrid>
              <a:tr h="564475">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Hạng Mục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Chi Tiết Triển Khai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extLst>
                  <a:ext uri="{0D108BD9-81ED-4DB2-BD59-A6C34878D82A}">
                    <a16:rowId xmlns:a16="http://schemas.microsoft.com/office/drawing/2014/main" val="10000"/>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Thiết bị</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Máy tính cá nhân kết nối Webcam, môi trường văn phòng vừa &amp; nhỏ.</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Người dùng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Admin quản trị hệ thống và Nhân viên chấm công.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Chức năng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Đăng ký, quản lý nhân viên; Nhận diện realtime; Lưu lịch sử.</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Công nghệ AI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ArcFace, ResNet-50, InsightFace (buffalo_l), Cosine Similarity.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Giới hạn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Chưa tối ưu đa camera đồng thời hay triển khai Edge/Cloud quy mô lớn.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52" name="Google Shape;252;p21"/>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253" name="Google Shape;253;p21"/>
          <p:cNvSpPr/>
          <p:nvPr/>
        </p:nvSpPr>
        <p:spPr>
          <a:xfrm>
            <a:off x="571500" y="2591692"/>
            <a:ext cx="216024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1"/>
          <p:cNvSpPr/>
          <p:nvPr/>
        </p:nvSpPr>
        <p:spPr>
          <a:xfrm>
            <a:off x="2731740" y="2591692"/>
            <a:ext cx="888875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1"/>
          <p:cNvSpPr/>
          <p:nvPr/>
        </p:nvSpPr>
        <p:spPr>
          <a:xfrm>
            <a:off x="571500" y="3161258"/>
            <a:ext cx="216024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1"/>
          <p:cNvSpPr/>
          <p:nvPr/>
        </p:nvSpPr>
        <p:spPr>
          <a:xfrm>
            <a:off x="2731740" y="3161258"/>
            <a:ext cx="888875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1"/>
          <p:cNvSpPr/>
          <p:nvPr/>
        </p:nvSpPr>
        <p:spPr>
          <a:xfrm>
            <a:off x="571500" y="3730823"/>
            <a:ext cx="216024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1"/>
          <p:cNvSpPr/>
          <p:nvPr/>
        </p:nvSpPr>
        <p:spPr>
          <a:xfrm>
            <a:off x="2731740" y="3730823"/>
            <a:ext cx="888875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1"/>
          <p:cNvSpPr/>
          <p:nvPr/>
        </p:nvSpPr>
        <p:spPr>
          <a:xfrm>
            <a:off x="571500" y="4300388"/>
            <a:ext cx="216024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1"/>
          <p:cNvSpPr/>
          <p:nvPr/>
        </p:nvSpPr>
        <p:spPr>
          <a:xfrm>
            <a:off x="2731740" y="4300388"/>
            <a:ext cx="888875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1"/>
          <p:cNvSpPr/>
          <p:nvPr/>
        </p:nvSpPr>
        <p:spPr>
          <a:xfrm>
            <a:off x="571500" y="4869953"/>
            <a:ext cx="216024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1"/>
          <p:cNvSpPr/>
          <p:nvPr/>
        </p:nvSpPr>
        <p:spPr>
          <a:xfrm>
            <a:off x="2731740" y="4869953"/>
            <a:ext cx="888875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1"/>
          <p:cNvSpPr/>
          <p:nvPr/>
        </p:nvSpPr>
        <p:spPr>
          <a:xfrm>
            <a:off x="571500" y="5439519"/>
            <a:ext cx="216024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21"/>
          <p:cNvSpPr/>
          <p:nvPr/>
        </p:nvSpPr>
        <p:spPr>
          <a:xfrm>
            <a:off x="2731740" y="5439519"/>
            <a:ext cx="888875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Thông báo">
            <a:extLst>
              <a:ext uri="{FF2B5EF4-FFF2-40B4-BE49-F238E27FC236}">
                <a16:creationId xmlns:a16="http://schemas.microsoft.com/office/drawing/2014/main" id="{F1A55F8A-1C9C-132E-A51A-F6EBE99C5B6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pic>
        <p:nvPicPr>
          <p:cNvPr id="271" name="Google Shape;271;p22"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272" name="Google Shape;272;p22" descr="image.png"/>
          <p:cNvPicPr preferRelativeResize="0"/>
          <p:nvPr/>
        </p:nvPicPr>
        <p:blipFill rotWithShape="1">
          <a:blip r:embed="rId4">
            <a:alphaModFix/>
          </a:blip>
          <a:srcRect/>
          <a:stretch/>
        </p:blipFill>
        <p:spPr>
          <a:xfrm>
            <a:off x="571500" y="1971675"/>
            <a:ext cx="5286375" cy="4505325"/>
          </a:xfrm>
          <a:prstGeom prst="rect">
            <a:avLst/>
          </a:prstGeom>
          <a:noFill/>
          <a:ln>
            <a:noFill/>
          </a:ln>
        </p:spPr>
      </p:pic>
      <p:pic>
        <p:nvPicPr>
          <p:cNvPr id="273" name="Google Shape;273;p22" descr="image.png"/>
          <p:cNvPicPr preferRelativeResize="0"/>
          <p:nvPr/>
        </p:nvPicPr>
        <p:blipFill rotWithShape="1">
          <a:blip r:embed="rId4">
            <a:alphaModFix/>
          </a:blip>
          <a:srcRect/>
          <a:stretch/>
        </p:blipFill>
        <p:spPr>
          <a:xfrm>
            <a:off x="6334125" y="1971675"/>
            <a:ext cx="5286375" cy="4505325"/>
          </a:xfrm>
          <a:prstGeom prst="rect">
            <a:avLst/>
          </a:prstGeom>
          <a:noFill/>
          <a:ln>
            <a:noFill/>
          </a:ln>
        </p:spPr>
      </p:pic>
      <p:pic>
        <p:nvPicPr>
          <p:cNvPr id="274" name="Google Shape;274;p22"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275" name="Google Shape;275;p22"/>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2"/>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277" name="Google Shape;277;p22"/>
          <p:cNvSpPr txBox="1"/>
          <p:nvPr/>
        </p:nvSpPr>
        <p:spPr>
          <a:xfrm>
            <a:off x="571500" y="1143000"/>
            <a:ext cx="5860732"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Khảo Sát Công Nghệ Liên Quan</a:t>
            </a:r>
            <a:endParaRPr/>
          </a:p>
        </p:txBody>
      </p:sp>
      <p:sp>
        <p:nvSpPr>
          <p:cNvPr id="278" name="Google Shape;278;p22"/>
          <p:cNvSpPr/>
          <p:nvPr/>
        </p:nvSpPr>
        <p:spPr>
          <a:xfrm>
            <a:off x="571500" y="1657350"/>
            <a:ext cx="55816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2"/>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282" name="Google Shape;282;p22"/>
          <p:cNvSpPr txBox="1"/>
          <p:nvPr/>
        </p:nvSpPr>
        <p:spPr>
          <a:xfrm>
            <a:off x="904875" y="2257425"/>
            <a:ext cx="490061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FaceNet &amp; DeepFace</a:t>
            </a:r>
            <a:endParaRPr/>
          </a:p>
        </p:txBody>
      </p:sp>
      <p:sp>
        <p:nvSpPr>
          <p:cNvPr id="283" name="Google Shape;283;p22"/>
          <p:cNvSpPr txBox="1"/>
          <p:nvPr/>
        </p:nvSpPr>
        <p:spPr>
          <a:xfrm>
            <a:off x="904875" y="2705100"/>
            <a:ext cx="466725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FaceNet:</a:t>
            </a:r>
            <a:r>
              <a:rPr lang="en-US" sz="1350" b="0" i="0" u="none" strike="noStrike" cap="none">
                <a:solidFill>
                  <a:srgbClr val="334155"/>
                </a:solidFill>
                <a:latin typeface="Open Sans"/>
                <a:ea typeface="Open Sans"/>
                <a:cs typeface="Open Sans"/>
                <a:sym typeface="Open Sans"/>
              </a:rPr>
              <a:t> Dùng Triplet Loss, rất trực quan nhưng quá trình khai thác bộ ba (Triplet Mining) phức tạp trên dữ liệu lớn.</a:t>
            </a:r>
            <a:endParaRPr/>
          </a:p>
        </p:txBody>
      </p:sp>
      <p:sp>
        <p:nvSpPr>
          <p:cNvPr id="284" name="Google Shape;284;p22"/>
          <p:cNvSpPr txBox="1"/>
          <p:nvPr/>
        </p:nvSpPr>
        <p:spPr>
          <a:xfrm>
            <a:off x="904875" y="3699420"/>
            <a:ext cx="46672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DeepFace:</a:t>
            </a:r>
            <a:r>
              <a:rPr lang="en-US" sz="1350" b="0" i="0" u="none" strike="noStrike" cap="none">
                <a:solidFill>
                  <a:srgbClr val="334155"/>
                </a:solidFill>
                <a:latin typeface="Open Sans"/>
                <a:ea typeface="Open Sans"/>
                <a:cs typeface="Open Sans"/>
                <a:sym typeface="Open Sans"/>
              </a:rPr>
              <a:t> Yêu cầu căn chỉnh 3D phức tạp, khó triển khai cho hệ thống thời gian thực nhỏ gọn.</a:t>
            </a:r>
            <a:endParaRPr/>
          </a:p>
        </p:txBody>
      </p:sp>
      <p:sp>
        <p:nvSpPr>
          <p:cNvPr id="285" name="Google Shape;285;p22"/>
          <p:cNvSpPr txBox="1"/>
          <p:nvPr/>
        </p:nvSpPr>
        <p:spPr>
          <a:xfrm>
            <a:off x="6667500" y="2257425"/>
            <a:ext cx="490061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ArcFace &amp; InsightFace</a:t>
            </a:r>
            <a:endParaRPr/>
          </a:p>
        </p:txBody>
      </p:sp>
      <p:sp>
        <p:nvSpPr>
          <p:cNvPr id="286" name="Google Shape;286;p22"/>
          <p:cNvSpPr txBox="1"/>
          <p:nvPr/>
        </p:nvSpPr>
        <p:spPr>
          <a:xfrm>
            <a:off x="6667500" y="2705100"/>
            <a:ext cx="46672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ArcFace:</a:t>
            </a:r>
            <a:r>
              <a:rPr lang="en-US" sz="1350" b="0" i="0" u="none" strike="noStrike" cap="none">
                <a:solidFill>
                  <a:srgbClr val="334155"/>
                </a:solidFill>
                <a:latin typeface="Open Sans"/>
                <a:ea typeface="Open Sans"/>
                <a:cs typeface="Open Sans"/>
                <a:sym typeface="Open Sans"/>
              </a:rPr>
              <a:t> Dùng Additive Angular Margin Loss tối ưu biên góc, tạo ranh giới phân tách rõ ràng giữa các danh tính.</a:t>
            </a:r>
            <a:endParaRPr/>
          </a:p>
        </p:txBody>
      </p:sp>
      <p:sp>
        <p:nvSpPr>
          <p:cNvPr id="287" name="Google Shape;287;p22"/>
          <p:cNvSpPr txBox="1"/>
          <p:nvPr/>
        </p:nvSpPr>
        <p:spPr>
          <a:xfrm>
            <a:off x="6667500" y="3425130"/>
            <a:ext cx="466725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InsightFace:</a:t>
            </a:r>
            <a:r>
              <a:rPr lang="en-US" sz="1350" b="0" i="0" u="none" strike="noStrike" cap="none">
                <a:solidFill>
                  <a:srgbClr val="334155"/>
                </a:solidFill>
                <a:latin typeface="Open Sans"/>
                <a:ea typeface="Open Sans"/>
                <a:cs typeface="Open Sans"/>
                <a:sym typeface="Open Sans"/>
              </a:rPr>
              <a:t> Framework hỗ trợ toàn diện Pipeline (SCRFD detection rất nhanh).</a:t>
            </a:r>
            <a:endParaRPr/>
          </a:p>
        </p:txBody>
      </p:sp>
      <p:pic>
        <p:nvPicPr>
          <p:cNvPr id="3" name="Picture 2" descr="Thông báo">
            <a:extLst>
              <a:ext uri="{FF2B5EF4-FFF2-40B4-BE49-F238E27FC236}">
                <a16:creationId xmlns:a16="http://schemas.microsoft.com/office/drawing/2014/main" id="{2DB4CBA1-D26B-91D8-0811-6A64AD4C7808}"/>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1"/>
        <p:cNvGrpSpPr/>
        <p:nvPr/>
      </p:nvGrpSpPr>
      <p:grpSpPr>
        <a:xfrm>
          <a:off x="0" y="0"/>
          <a:ext cx="0" cy="0"/>
          <a:chOff x="0" y="0"/>
          <a:chExt cx="0" cy="0"/>
        </a:xfrm>
      </p:grpSpPr>
      <p:pic>
        <p:nvPicPr>
          <p:cNvPr id="292" name="Google Shape;292;p23"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293" name="Google Shape;293;p23"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294" name="Google Shape;294;p23"/>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5" name="Google Shape;295;p23"/>
          <p:cNvSpPr txBox="1"/>
          <p:nvPr/>
        </p:nvSpPr>
        <p:spPr>
          <a:xfrm>
            <a:off x="3990975" y="242887"/>
            <a:ext cx="293036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1. TỔNG QUAN</a:t>
            </a:r>
            <a:endParaRPr/>
          </a:p>
        </p:txBody>
      </p:sp>
      <p:sp>
        <p:nvSpPr>
          <p:cNvPr id="296" name="Google Shape;296;p23"/>
          <p:cNvSpPr txBox="1"/>
          <p:nvPr/>
        </p:nvSpPr>
        <p:spPr>
          <a:xfrm>
            <a:off x="571500" y="1768822"/>
            <a:ext cx="52006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Kiến Trúc Đề Xuất</a:t>
            </a:r>
            <a:endParaRPr/>
          </a:p>
        </p:txBody>
      </p:sp>
      <p:sp>
        <p:nvSpPr>
          <p:cNvPr id="297" name="Google Shape;297;p23"/>
          <p:cNvSpPr/>
          <p:nvPr/>
        </p:nvSpPr>
        <p:spPr>
          <a:xfrm>
            <a:off x="571500" y="2283172"/>
            <a:ext cx="495300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8" name="Google Shape;298;p23" descr="image.png"/>
          <p:cNvPicPr preferRelativeResize="0"/>
          <p:nvPr/>
        </p:nvPicPr>
        <p:blipFill rotWithShape="1">
          <a:blip r:embed="rId5">
            <a:alphaModFix/>
          </a:blip>
          <a:srcRect/>
          <a:stretch/>
        </p:blipFill>
        <p:spPr>
          <a:xfrm>
            <a:off x="6096000" y="790572"/>
            <a:ext cx="6096000" cy="6067427"/>
          </a:xfrm>
          <a:prstGeom prst="rect">
            <a:avLst/>
          </a:prstGeom>
          <a:noFill/>
          <a:ln>
            <a:noFill/>
          </a:ln>
        </p:spPr>
      </p:pic>
      <p:sp>
        <p:nvSpPr>
          <p:cNvPr id="299" name="Google Shape;299;p23"/>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302" name="Google Shape;302;p23"/>
          <p:cNvSpPr txBox="1"/>
          <p:nvPr/>
        </p:nvSpPr>
        <p:spPr>
          <a:xfrm>
            <a:off x="952500" y="2597497"/>
            <a:ext cx="4572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Nhánh Đăng Ký:</a:t>
            </a:r>
            <a:r>
              <a:rPr lang="en-US" sz="1350" b="0" i="0" u="none" strike="noStrike" cap="none">
                <a:solidFill>
                  <a:srgbClr val="334155"/>
                </a:solidFill>
                <a:latin typeface="Open Sans"/>
                <a:ea typeface="Open Sans"/>
                <a:cs typeface="Open Sans"/>
                <a:sym typeface="Open Sans"/>
              </a:rPr>
              <a:t> Thu thập ảnh -&gt; Căn chỉnh -&gt; Trích xuất Embedding -&gt; Lưu CSDL (Supabase).</a:t>
            </a:r>
            <a:endParaRPr/>
          </a:p>
        </p:txBody>
      </p:sp>
      <p:sp>
        <p:nvSpPr>
          <p:cNvPr id="303" name="Google Shape;303;p23"/>
          <p:cNvSpPr txBox="1"/>
          <p:nvPr/>
        </p:nvSpPr>
        <p:spPr>
          <a:xfrm>
            <a:off x="952500" y="3384202"/>
            <a:ext cx="4572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Nhánh Nhận Diện:</a:t>
            </a:r>
            <a:r>
              <a:rPr lang="en-US" sz="1350" b="0" i="0" u="none" strike="noStrike" cap="none">
                <a:solidFill>
                  <a:srgbClr val="334155"/>
                </a:solidFill>
                <a:latin typeface="Open Sans"/>
                <a:ea typeface="Open Sans"/>
                <a:cs typeface="Open Sans"/>
                <a:sym typeface="Open Sans"/>
              </a:rPr>
              <a:t> Frame từ camera -&gt; Xử lý -&gt; So khớp Cosine Similarity -&gt; Ghi nhận.</a:t>
            </a:r>
            <a:endParaRPr/>
          </a:p>
        </p:txBody>
      </p:sp>
      <p:sp>
        <p:nvSpPr>
          <p:cNvPr id="304" name="Google Shape;304;p23"/>
          <p:cNvSpPr txBox="1"/>
          <p:nvPr/>
        </p:nvSpPr>
        <p:spPr>
          <a:xfrm>
            <a:off x="952500" y="4170908"/>
            <a:ext cx="4572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Backend:</a:t>
            </a:r>
            <a:r>
              <a:rPr lang="en-US" sz="1350" b="0" i="0" u="none" strike="noStrike" cap="none">
                <a:solidFill>
                  <a:srgbClr val="334155"/>
                </a:solidFill>
                <a:latin typeface="Open Sans"/>
                <a:ea typeface="Open Sans"/>
                <a:cs typeface="Open Sans"/>
                <a:sym typeface="Open Sans"/>
              </a:rPr>
              <a:t> FastAPI kết hợp ONNX Runtime/PyTorch.</a:t>
            </a:r>
            <a:endParaRPr/>
          </a:p>
        </p:txBody>
      </p:sp>
      <p:sp>
        <p:nvSpPr>
          <p:cNvPr id="305" name="Google Shape;305;p23"/>
          <p:cNvSpPr txBox="1"/>
          <p:nvPr/>
        </p:nvSpPr>
        <p:spPr>
          <a:xfrm>
            <a:off x="952500" y="4683323"/>
            <a:ext cx="4572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Frontend:</a:t>
            </a:r>
            <a:r>
              <a:rPr lang="en-US" sz="1350" b="0" i="0" u="none" strike="noStrike" cap="none">
                <a:solidFill>
                  <a:srgbClr val="334155"/>
                </a:solidFill>
                <a:latin typeface="Open Sans"/>
                <a:ea typeface="Open Sans"/>
                <a:cs typeface="Open Sans"/>
                <a:sym typeface="Open Sans"/>
              </a:rPr>
              <a:t> React/Vite cho giao diện chính và Streamlit cho kiểm thử AI.</a:t>
            </a:r>
            <a:endParaRPr/>
          </a:p>
        </p:txBody>
      </p:sp>
      <p:pic>
        <p:nvPicPr>
          <p:cNvPr id="3" name="Picture 2" descr="Thông báo">
            <a:extLst>
              <a:ext uri="{FF2B5EF4-FFF2-40B4-BE49-F238E27FC236}">
                <a16:creationId xmlns:a16="http://schemas.microsoft.com/office/drawing/2014/main" id="{E507D2F6-59DC-AEFA-CD13-0D4A00DA42C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9"/>
        <p:cNvGrpSpPr/>
        <p:nvPr/>
      </p:nvGrpSpPr>
      <p:grpSpPr>
        <a:xfrm>
          <a:off x="0" y="0"/>
          <a:ext cx="0" cy="0"/>
          <a:chOff x="0" y="0"/>
          <a:chExt cx="0" cy="0"/>
        </a:xfrm>
      </p:grpSpPr>
      <p:pic>
        <p:nvPicPr>
          <p:cNvPr id="310" name="Google Shape;310;p24" descr="image.png"/>
          <p:cNvPicPr preferRelativeResize="0"/>
          <p:nvPr/>
        </p:nvPicPr>
        <p:blipFill rotWithShape="1">
          <a:blip r:embed="rId3">
            <a:alphaModFix/>
          </a:blip>
          <a:srcRect/>
          <a:stretch/>
        </p:blipFill>
        <p:spPr>
          <a:xfrm>
            <a:off x="0" y="762000"/>
            <a:ext cx="12192000" cy="6096000"/>
          </a:xfrm>
          <a:prstGeom prst="rect">
            <a:avLst/>
          </a:prstGeom>
          <a:noFill/>
          <a:ln>
            <a:noFill/>
          </a:ln>
        </p:spPr>
      </p:pic>
      <p:pic>
        <p:nvPicPr>
          <p:cNvPr id="311" name="Google Shape;311;p24" descr="image.png"/>
          <p:cNvPicPr preferRelativeResize="0"/>
          <p:nvPr/>
        </p:nvPicPr>
        <p:blipFill rotWithShape="1">
          <a:blip r:embed="rId4">
            <a:alphaModFix/>
          </a:blip>
          <a:srcRect/>
          <a:stretch/>
        </p:blipFill>
        <p:spPr>
          <a:xfrm>
            <a:off x="381000" y="147637"/>
            <a:ext cx="609600" cy="466725"/>
          </a:xfrm>
          <a:prstGeom prst="rect">
            <a:avLst/>
          </a:prstGeom>
          <a:noFill/>
          <a:ln>
            <a:noFill/>
          </a:ln>
        </p:spPr>
      </p:pic>
      <p:pic>
        <p:nvPicPr>
          <p:cNvPr id="312" name="Google Shape;312;p24"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313" name="Google Shape;313;p24"/>
          <p:cNvSpPr txBox="1"/>
          <p:nvPr/>
        </p:nvSpPr>
        <p:spPr>
          <a:xfrm>
            <a:off x="1962150" y="2901255"/>
            <a:ext cx="8681085"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1E3A8A"/>
                </a:solidFill>
                <a:latin typeface="Montserrat"/>
                <a:ea typeface="Montserrat"/>
                <a:cs typeface="Montserrat"/>
                <a:sym typeface="Montserrat"/>
              </a:rPr>
              <a:t>CHƯƠNG 2: DỮ LIỆU &amp; TIỀN XỬ LÝ</a:t>
            </a:r>
            <a:endParaRPr/>
          </a:p>
        </p:txBody>
      </p:sp>
      <p:sp>
        <p:nvSpPr>
          <p:cNvPr id="314" name="Google Shape;314;p24"/>
          <p:cNvSpPr/>
          <p:nvPr/>
        </p:nvSpPr>
        <p:spPr>
          <a:xfrm>
            <a:off x="5619750" y="3768030"/>
            <a:ext cx="952500" cy="4762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5" name="Google Shape;315;p24"/>
          <p:cNvSpPr txBox="1"/>
          <p:nvPr/>
        </p:nvSpPr>
        <p:spPr>
          <a:xfrm>
            <a:off x="3695700" y="4272855"/>
            <a:ext cx="48006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Tổ Chức Dữ Liệu, Căn Chỉnh Hình Ảnh &amp; Data Augmentation</a:t>
            </a:r>
            <a:endParaRPr/>
          </a:p>
        </p:txBody>
      </p:sp>
      <p:sp>
        <p:nvSpPr>
          <p:cNvPr id="316" name="Google Shape;316;p24"/>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pic>
        <p:nvPicPr>
          <p:cNvPr id="3" name="Picture 2" descr="Thông báo">
            <a:extLst>
              <a:ext uri="{FF2B5EF4-FFF2-40B4-BE49-F238E27FC236}">
                <a16:creationId xmlns:a16="http://schemas.microsoft.com/office/drawing/2014/main" id="{1CAB0599-D250-68EE-EBBC-32D3AF527DE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2"/>
        <p:cNvGrpSpPr/>
        <p:nvPr/>
      </p:nvGrpSpPr>
      <p:grpSpPr>
        <a:xfrm>
          <a:off x="0" y="0"/>
          <a:ext cx="0" cy="0"/>
          <a:chOff x="0" y="0"/>
          <a:chExt cx="0" cy="0"/>
        </a:xfrm>
      </p:grpSpPr>
      <p:pic>
        <p:nvPicPr>
          <p:cNvPr id="323" name="Google Shape;323;p25"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324" name="Google Shape;324;p25"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325" name="Google Shape;325;p25"/>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6" name="Google Shape;326;p25"/>
          <p:cNvSpPr txBox="1"/>
          <p:nvPr/>
        </p:nvSpPr>
        <p:spPr>
          <a:xfrm>
            <a:off x="3990975" y="242887"/>
            <a:ext cx="245030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2. DỮ LIỆU</a:t>
            </a:r>
            <a:endParaRPr/>
          </a:p>
        </p:txBody>
      </p:sp>
      <p:sp>
        <p:nvSpPr>
          <p:cNvPr id="327" name="Google Shape;327;p25"/>
          <p:cNvSpPr txBox="1"/>
          <p:nvPr/>
        </p:nvSpPr>
        <p:spPr>
          <a:xfrm>
            <a:off x="571500" y="1143000"/>
            <a:ext cx="456057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Các Bộ Dữ Liệu Sử Dụng</a:t>
            </a:r>
            <a:endParaRPr/>
          </a:p>
        </p:txBody>
      </p:sp>
      <p:sp>
        <p:nvSpPr>
          <p:cNvPr id="328" name="Google Shape;328;p25"/>
          <p:cNvSpPr/>
          <p:nvPr/>
        </p:nvSpPr>
        <p:spPr>
          <a:xfrm>
            <a:off x="571500" y="1657350"/>
            <a:ext cx="434340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329" name="Google Shape;329;p25"/>
          <p:cNvGraphicFramePr/>
          <p:nvPr/>
        </p:nvGraphicFramePr>
        <p:xfrm>
          <a:off x="571500" y="2066925"/>
          <a:ext cx="11049000" cy="3386850"/>
        </p:xfrm>
        <a:graphic>
          <a:graphicData uri="http://schemas.openxmlformats.org/drawingml/2006/table">
            <a:tbl>
              <a:tblPr firstRow="1" bandRow="1">
                <a:noFill/>
                <a:tableStyleId>{058DF0C4-FC9D-46FB-A0C7-711C2C6CB1AF}</a:tableStyleId>
              </a:tblPr>
              <a:tblGrid>
                <a:gridCol w="1819275">
                  <a:extLst>
                    <a:ext uri="{9D8B030D-6E8A-4147-A177-3AD203B41FA5}">
                      <a16:colId xmlns:a16="http://schemas.microsoft.com/office/drawing/2014/main" val="20000"/>
                    </a:ext>
                  </a:extLst>
                </a:gridCol>
                <a:gridCol w="5141125">
                  <a:extLst>
                    <a:ext uri="{9D8B030D-6E8A-4147-A177-3AD203B41FA5}">
                      <a16:colId xmlns:a16="http://schemas.microsoft.com/office/drawing/2014/main" val="20001"/>
                    </a:ext>
                  </a:extLst>
                </a:gridCol>
                <a:gridCol w="4088600">
                  <a:extLst>
                    <a:ext uri="{9D8B030D-6E8A-4147-A177-3AD203B41FA5}">
                      <a16:colId xmlns:a16="http://schemas.microsoft.com/office/drawing/2014/main" val="20002"/>
                    </a:ext>
                  </a:extLst>
                </a:gridCol>
              </a:tblGrid>
              <a:tr h="564475">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Dataset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Đặc Điểm Chính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Vai Trò (Mục Đích)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extLst>
                  <a:ext uri="{0D108BD9-81ED-4DB2-BD59-A6C34878D82A}">
                    <a16:rowId xmlns:a16="http://schemas.microsoft.com/office/drawing/2014/main" val="10000"/>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VGGFace2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~3.3 triệu ảnh, 9.131 danh tính. Đa dạng tuổi, góc nhìn.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Pre-training / Fine-tuning mô hình.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RMFRD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Ảnh người thật đeo khẩu trang.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Huấn luyện khả năng nhận diện che khuất.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CelebA-Spoof</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~625.000 ảnh (Real/Spoof: in giấy, video replay).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Huấn luyện Anti-Spoofing.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LFW / AgeDB-30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Benchmark quốc tế uy tín.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Đánh giá (Testing) tính chính xác.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564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In-house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Thu thập thực tế qua Webcam nhóm/nhân viên.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Thích nghi môi trường thực tế.</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30" name="Google Shape;330;p25"/>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331" name="Google Shape;331;p25"/>
          <p:cNvSpPr/>
          <p:nvPr/>
        </p:nvSpPr>
        <p:spPr>
          <a:xfrm>
            <a:off x="571500" y="2591692"/>
            <a:ext cx="18192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2" name="Google Shape;332;p25"/>
          <p:cNvSpPr/>
          <p:nvPr/>
        </p:nvSpPr>
        <p:spPr>
          <a:xfrm>
            <a:off x="2390775" y="2591692"/>
            <a:ext cx="5141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3" name="Google Shape;333;p25"/>
          <p:cNvSpPr/>
          <p:nvPr/>
        </p:nvSpPr>
        <p:spPr>
          <a:xfrm>
            <a:off x="7531893" y="2591692"/>
            <a:ext cx="408860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6" name="Google Shape;336;p25"/>
          <p:cNvSpPr/>
          <p:nvPr/>
        </p:nvSpPr>
        <p:spPr>
          <a:xfrm>
            <a:off x="571500" y="3161258"/>
            <a:ext cx="18192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7" name="Google Shape;337;p25"/>
          <p:cNvSpPr/>
          <p:nvPr/>
        </p:nvSpPr>
        <p:spPr>
          <a:xfrm>
            <a:off x="2390775" y="3161258"/>
            <a:ext cx="5141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8" name="Google Shape;338;p25"/>
          <p:cNvSpPr/>
          <p:nvPr/>
        </p:nvSpPr>
        <p:spPr>
          <a:xfrm>
            <a:off x="7531893" y="3161258"/>
            <a:ext cx="408860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9" name="Google Shape;339;p25"/>
          <p:cNvSpPr/>
          <p:nvPr/>
        </p:nvSpPr>
        <p:spPr>
          <a:xfrm>
            <a:off x="571500" y="3730823"/>
            <a:ext cx="18192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0" name="Google Shape;340;p25"/>
          <p:cNvSpPr/>
          <p:nvPr/>
        </p:nvSpPr>
        <p:spPr>
          <a:xfrm>
            <a:off x="2390775" y="3730823"/>
            <a:ext cx="5141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25"/>
          <p:cNvSpPr/>
          <p:nvPr/>
        </p:nvSpPr>
        <p:spPr>
          <a:xfrm>
            <a:off x="7531893" y="3730823"/>
            <a:ext cx="408860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25"/>
          <p:cNvSpPr/>
          <p:nvPr/>
        </p:nvSpPr>
        <p:spPr>
          <a:xfrm>
            <a:off x="571500" y="4300388"/>
            <a:ext cx="18192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25"/>
          <p:cNvSpPr/>
          <p:nvPr/>
        </p:nvSpPr>
        <p:spPr>
          <a:xfrm>
            <a:off x="2390775" y="4300388"/>
            <a:ext cx="5141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4" name="Google Shape;344;p25"/>
          <p:cNvSpPr/>
          <p:nvPr/>
        </p:nvSpPr>
        <p:spPr>
          <a:xfrm>
            <a:off x="7531893" y="4300388"/>
            <a:ext cx="408860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25"/>
          <p:cNvSpPr/>
          <p:nvPr/>
        </p:nvSpPr>
        <p:spPr>
          <a:xfrm>
            <a:off x="571500" y="4869953"/>
            <a:ext cx="18192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25"/>
          <p:cNvSpPr/>
          <p:nvPr/>
        </p:nvSpPr>
        <p:spPr>
          <a:xfrm>
            <a:off x="2390775" y="4869953"/>
            <a:ext cx="5141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25"/>
          <p:cNvSpPr/>
          <p:nvPr/>
        </p:nvSpPr>
        <p:spPr>
          <a:xfrm>
            <a:off x="7531893" y="4869953"/>
            <a:ext cx="408860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5"/>
          <p:cNvSpPr/>
          <p:nvPr/>
        </p:nvSpPr>
        <p:spPr>
          <a:xfrm>
            <a:off x="571500" y="5439519"/>
            <a:ext cx="18192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9" name="Google Shape;349;p25"/>
          <p:cNvSpPr/>
          <p:nvPr/>
        </p:nvSpPr>
        <p:spPr>
          <a:xfrm>
            <a:off x="2390775" y="5439519"/>
            <a:ext cx="514111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0" name="Google Shape;350;p25"/>
          <p:cNvSpPr/>
          <p:nvPr/>
        </p:nvSpPr>
        <p:spPr>
          <a:xfrm>
            <a:off x="7531893" y="5439519"/>
            <a:ext cx="408860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Thông báo">
            <a:extLst>
              <a:ext uri="{FF2B5EF4-FFF2-40B4-BE49-F238E27FC236}">
                <a16:creationId xmlns:a16="http://schemas.microsoft.com/office/drawing/2014/main" id="{2BF81891-5C65-AF8D-803E-C47F73B4A3A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4"/>
        <p:cNvGrpSpPr/>
        <p:nvPr/>
      </p:nvGrpSpPr>
      <p:grpSpPr>
        <a:xfrm>
          <a:off x="0" y="0"/>
          <a:ext cx="0" cy="0"/>
          <a:chOff x="0" y="0"/>
          <a:chExt cx="0" cy="0"/>
        </a:xfrm>
      </p:grpSpPr>
      <p:pic>
        <p:nvPicPr>
          <p:cNvPr id="355" name="Google Shape;355;p26"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356" name="Google Shape;356;p26" descr="image.png"/>
          <p:cNvPicPr preferRelativeResize="0"/>
          <p:nvPr/>
        </p:nvPicPr>
        <p:blipFill rotWithShape="1">
          <a:blip r:embed="rId4">
            <a:alphaModFix/>
          </a:blip>
          <a:srcRect/>
          <a:stretch/>
        </p:blipFill>
        <p:spPr>
          <a:xfrm>
            <a:off x="571500" y="1971675"/>
            <a:ext cx="3492549" cy="3059310"/>
          </a:xfrm>
          <a:prstGeom prst="rect">
            <a:avLst/>
          </a:prstGeom>
          <a:noFill/>
          <a:ln>
            <a:noFill/>
          </a:ln>
        </p:spPr>
      </p:pic>
      <p:pic>
        <p:nvPicPr>
          <p:cNvPr id="357" name="Google Shape;357;p26" descr="image.png"/>
          <p:cNvPicPr preferRelativeResize="0"/>
          <p:nvPr/>
        </p:nvPicPr>
        <p:blipFill rotWithShape="1">
          <a:blip r:embed="rId5">
            <a:alphaModFix/>
          </a:blip>
          <a:srcRect/>
          <a:stretch/>
        </p:blipFill>
        <p:spPr>
          <a:xfrm>
            <a:off x="4349799" y="1971675"/>
            <a:ext cx="3492549" cy="3059310"/>
          </a:xfrm>
          <a:prstGeom prst="rect">
            <a:avLst/>
          </a:prstGeom>
          <a:noFill/>
          <a:ln>
            <a:noFill/>
          </a:ln>
        </p:spPr>
      </p:pic>
      <p:pic>
        <p:nvPicPr>
          <p:cNvPr id="358" name="Google Shape;358;p26" descr="image.png"/>
          <p:cNvPicPr preferRelativeResize="0"/>
          <p:nvPr/>
        </p:nvPicPr>
        <p:blipFill rotWithShape="1">
          <a:blip r:embed="rId6">
            <a:alphaModFix/>
          </a:blip>
          <a:srcRect/>
          <a:stretch/>
        </p:blipFill>
        <p:spPr>
          <a:xfrm>
            <a:off x="8128099" y="1971675"/>
            <a:ext cx="3492549" cy="3059310"/>
          </a:xfrm>
          <a:prstGeom prst="rect">
            <a:avLst/>
          </a:prstGeom>
          <a:noFill/>
          <a:ln>
            <a:noFill/>
          </a:ln>
        </p:spPr>
      </p:pic>
      <p:pic>
        <p:nvPicPr>
          <p:cNvPr id="359" name="Google Shape;359;p26" descr="image.png"/>
          <p:cNvPicPr preferRelativeResize="0"/>
          <p:nvPr/>
        </p:nvPicPr>
        <p:blipFill rotWithShape="1">
          <a:blip r:embed="rId7">
            <a:alphaModFix/>
          </a:blip>
          <a:srcRect/>
          <a:stretch/>
        </p:blipFill>
        <p:spPr>
          <a:xfrm>
            <a:off x="0" y="0"/>
            <a:ext cx="12192000" cy="762000"/>
          </a:xfrm>
          <a:prstGeom prst="rect">
            <a:avLst/>
          </a:prstGeom>
          <a:noFill/>
          <a:ln>
            <a:noFill/>
          </a:ln>
        </p:spPr>
      </p:pic>
      <p:sp>
        <p:nvSpPr>
          <p:cNvPr id="360" name="Google Shape;360;p26"/>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1" name="Google Shape;361;p26"/>
          <p:cNvSpPr txBox="1"/>
          <p:nvPr/>
        </p:nvSpPr>
        <p:spPr>
          <a:xfrm>
            <a:off x="3990975" y="242887"/>
            <a:ext cx="245030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2. DỮ LIỆU</a:t>
            </a:r>
            <a:endParaRPr/>
          </a:p>
        </p:txBody>
      </p:sp>
      <p:sp>
        <p:nvSpPr>
          <p:cNvPr id="362" name="Google Shape;362;p26"/>
          <p:cNvSpPr txBox="1"/>
          <p:nvPr/>
        </p:nvSpPr>
        <p:spPr>
          <a:xfrm>
            <a:off x="571500" y="1143000"/>
            <a:ext cx="5860732"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Dữ Liệu Tự Thu Thập (In-house)</a:t>
            </a:r>
            <a:endParaRPr/>
          </a:p>
        </p:txBody>
      </p:sp>
      <p:sp>
        <p:nvSpPr>
          <p:cNvPr id="363" name="Google Shape;363;p26"/>
          <p:cNvSpPr/>
          <p:nvPr/>
        </p:nvSpPr>
        <p:spPr>
          <a:xfrm>
            <a:off x="571500" y="1657350"/>
            <a:ext cx="55816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4" name="Google Shape;364;p26"/>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367" name="Google Shape;367;p26"/>
          <p:cNvSpPr txBox="1"/>
          <p:nvPr/>
        </p:nvSpPr>
        <p:spPr>
          <a:xfrm>
            <a:off x="6942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Mục Đích</a:t>
            </a:r>
            <a:endParaRPr/>
          </a:p>
        </p:txBody>
      </p:sp>
      <p:sp>
        <p:nvSpPr>
          <p:cNvPr id="368" name="Google Shape;368;p26"/>
          <p:cNvSpPr txBox="1"/>
          <p:nvPr/>
        </p:nvSpPr>
        <p:spPr>
          <a:xfrm>
            <a:off x="771525" y="3467100"/>
            <a:ext cx="3092499"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Khắc phục sự sai khác (domain shift) giữa dữ liệu public và điều kiện ánh sáng, góc cam thực tế tại phòng lab/công ty.</a:t>
            </a:r>
            <a:endParaRPr/>
          </a:p>
        </p:txBody>
      </p:sp>
      <p:sp>
        <p:nvSpPr>
          <p:cNvPr id="369" name="Google Shape;369;p26"/>
          <p:cNvSpPr txBox="1"/>
          <p:nvPr/>
        </p:nvSpPr>
        <p:spPr>
          <a:xfrm>
            <a:off x="44725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Đa Dạng Hóa</a:t>
            </a:r>
            <a:endParaRPr/>
          </a:p>
        </p:txBody>
      </p:sp>
      <p:sp>
        <p:nvSpPr>
          <p:cNvPr id="370" name="Google Shape;370;p26"/>
          <p:cNvSpPr txBox="1"/>
          <p:nvPr/>
        </p:nvSpPr>
        <p:spPr>
          <a:xfrm>
            <a:off x="4549824"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Thu thập các góc nhìn: Thẳng, nghiêng, cúi, ngẩng; kèm phụ kiện như kính và khẩu trang.</a:t>
            </a:r>
            <a:endParaRPr/>
          </a:p>
        </p:txBody>
      </p:sp>
      <p:sp>
        <p:nvSpPr>
          <p:cNvPr id="371" name="Google Shape;371;p26"/>
          <p:cNvSpPr txBox="1"/>
          <p:nvPr/>
        </p:nvSpPr>
        <p:spPr>
          <a:xfrm>
            <a:off x="8250811"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Công Cụ Tự Động</a:t>
            </a:r>
            <a:endParaRPr/>
          </a:p>
        </p:txBody>
      </p:sp>
      <p:sp>
        <p:nvSpPr>
          <p:cNvPr id="372" name="Google Shape;372;p26"/>
          <p:cNvSpPr txBox="1"/>
          <p:nvPr/>
        </p:nvSpPr>
        <p:spPr>
          <a:xfrm>
            <a:off x="8328124"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Script Auto Capture bằng OpenCV kết hợp InsightFace để phát hiện và lọc ảnh mờ tự động.</a:t>
            </a:r>
            <a:endParaRPr/>
          </a:p>
        </p:txBody>
      </p:sp>
      <p:pic>
        <p:nvPicPr>
          <p:cNvPr id="373" name="Google Shape;373;p26" descr="image.png"/>
          <p:cNvPicPr preferRelativeResize="0"/>
          <p:nvPr/>
        </p:nvPicPr>
        <p:blipFill rotWithShape="1">
          <a:blip r:embed="rId8">
            <a:alphaModFix/>
          </a:blip>
          <a:srcRect/>
          <a:stretch/>
        </p:blipFill>
        <p:spPr>
          <a:xfrm>
            <a:off x="2079575" y="2381250"/>
            <a:ext cx="476250" cy="381000"/>
          </a:xfrm>
          <a:prstGeom prst="rect">
            <a:avLst/>
          </a:prstGeom>
          <a:noFill/>
          <a:ln>
            <a:noFill/>
          </a:ln>
        </p:spPr>
      </p:pic>
      <p:pic>
        <p:nvPicPr>
          <p:cNvPr id="374" name="Google Shape;374;p26" descr="image.png"/>
          <p:cNvPicPr preferRelativeResize="0"/>
          <p:nvPr/>
        </p:nvPicPr>
        <p:blipFill rotWithShape="1">
          <a:blip r:embed="rId9">
            <a:alphaModFix/>
          </a:blip>
          <a:srcRect/>
          <a:stretch/>
        </p:blipFill>
        <p:spPr>
          <a:xfrm>
            <a:off x="5905500" y="2381250"/>
            <a:ext cx="381000" cy="381000"/>
          </a:xfrm>
          <a:prstGeom prst="rect">
            <a:avLst/>
          </a:prstGeom>
          <a:noFill/>
          <a:ln>
            <a:noFill/>
          </a:ln>
        </p:spPr>
      </p:pic>
      <p:pic>
        <p:nvPicPr>
          <p:cNvPr id="375" name="Google Shape;375;p26" descr="image.png"/>
          <p:cNvPicPr preferRelativeResize="0"/>
          <p:nvPr/>
        </p:nvPicPr>
        <p:blipFill rotWithShape="1">
          <a:blip r:embed="rId10">
            <a:alphaModFix/>
          </a:blip>
          <a:srcRect/>
          <a:stretch/>
        </p:blipFill>
        <p:spPr>
          <a:xfrm>
            <a:off x="9636174" y="2381250"/>
            <a:ext cx="476250" cy="381000"/>
          </a:xfrm>
          <a:prstGeom prst="rect">
            <a:avLst/>
          </a:prstGeom>
          <a:noFill/>
          <a:ln>
            <a:noFill/>
          </a:ln>
        </p:spPr>
      </p:pic>
      <p:pic>
        <p:nvPicPr>
          <p:cNvPr id="3" name="Picture 2" descr="Thông báo">
            <a:extLst>
              <a:ext uri="{FF2B5EF4-FFF2-40B4-BE49-F238E27FC236}">
                <a16:creationId xmlns:a16="http://schemas.microsoft.com/office/drawing/2014/main" id="{7CCD2C5C-471F-8828-B5FD-39F0B3A4379F}"/>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2">
          <a:extLst>
            <a:ext uri="{FF2B5EF4-FFF2-40B4-BE49-F238E27FC236}">
              <a16:creationId xmlns:a16="http://schemas.microsoft.com/office/drawing/2014/main" id="{E9A7CC39-7262-9A78-4F86-C86705891EFD}"/>
            </a:ext>
          </a:extLst>
        </p:cNvPr>
        <p:cNvGrpSpPr/>
        <p:nvPr/>
      </p:nvGrpSpPr>
      <p:grpSpPr>
        <a:xfrm>
          <a:off x="0" y="0"/>
          <a:ext cx="0" cy="0"/>
          <a:chOff x="0" y="0"/>
          <a:chExt cx="0" cy="0"/>
        </a:xfrm>
      </p:grpSpPr>
      <p:pic>
        <p:nvPicPr>
          <p:cNvPr id="323" name="Google Shape;323;p25" descr="image.png">
            <a:extLst>
              <a:ext uri="{FF2B5EF4-FFF2-40B4-BE49-F238E27FC236}">
                <a16:creationId xmlns:a16="http://schemas.microsoft.com/office/drawing/2014/main" id="{ECCB92D8-3FD3-04BA-ED5B-28F7953E1554}"/>
              </a:ext>
            </a:extLst>
          </p:cNvPr>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324" name="Google Shape;324;p25" descr="image.png">
            <a:extLst>
              <a:ext uri="{FF2B5EF4-FFF2-40B4-BE49-F238E27FC236}">
                <a16:creationId xmlns:a16="http://schemas.microsoft.com/office/drawing/2014/main" id="{9BAE7293-A034-EA1F-C7C2-915871F4D8BB}"/>
              </a:ext>
            </a:extLst>
          </p:cNvPr>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325" name="Google Shape;325;p25">
            <a:extLst>
              <a:ext uri="{FF2B5EF4-FFF2-40B4-BE49-F238E27FC236}">
                <a16:creationId xmlns:a16="http://schemas.microsoft.com/office/drawing/2014/main" id="{2A09CE44-ECB0-E512-4BC8-9120F8115D5E}"/>
              </a:ext>
            </a:extLst>
          </p:cNvPr>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6" name="Google Shape;326;p25">
            <a:extLst>
              <a:ext uri="{FF2B5EF4-FFF2-40B4-BE49-F238E27FC236}">
                <a16:creationId xmlns:a16="http://schemas.microsoft.com/office/drawing/2014/main" id="{29153400-33FF-2261-9C17-C2B9B5F33EED}"/>
              </a:ext>
            </a:extLst>
          </p:cNvPr>
          <p:cNvSpPr txBox="1"/>
          <p:nvPr/>
        </p:nvSpPr>
        <p:spPr>
          <a:xfrm>
            <a:off x="3990975" y="242887"/>
            <a:ext cx="245030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2. DỮ LIỆU</a:t>
            </a:r>
            <a:endParaRPr/>
          </a:p>
        </p:txBody>
      </p:sp>
      <p:sp>
        <p:nvSpPr>
          <p:cNvPr id="330" name="Google Shape;330;p25">
            <a:extLst>
              <a:ext uri="{FF2B5EF4-FFF2-40B4-BE49-F238E27FC236}">
                <a16:creationId xmlns:a16="http://schemas.microsoft.com/office/drawing/2014/main" id="{CD8D2A1D-5F62-D8F1-7A86-44758026842B}"/>
              </a:ext>
            </a:extLst>
          </p:cNvPr>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pic>
        <p:nvPicPr>
          <p:cNvPr id="3" name="Picture 2" descr="Thông báo">
            <a:extLst>
              <a:ext uri="{FF2B5EF4-FFF2-40B4-BE49-F238E27FC236}">
                <a16:creationId xmlns:a16="http://schemas.microsoft.com/office/drawing/2014/main" id="{AF17CC7F-AD3F-A4D2-071F-EA43D635987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pic>
        <p:nvPicPr>
          <p:cNvPr id="4" name="Picture 3">
            <a:extLst>
              <a:ext uri="{FF2B5EF4-FFF2-40B4-BE49-F238E27FC236}">
                <a16:creationId xmlns:a16="http://schemas.microsoft.com/office/drawing/2014/main" id="{116A16C5-6E4F-8E44-ED6B-3835FD231DD1}"/>
              </a:ext>
            </a:extLst>
          </p:cNvPr>
          <p:cNvPicPr>
            <a:picLocks noChangeAspect="1"/>
          </p:cNvPicPr>
          <p:nvPr/>
        </p:nvPicPr>
        <p:blipFill>
          <a:blip r:embed="rId6"/>
          <a:stretch>
            <a:fillRect/>
          </a:stretch>
        </p:blipFill>
        <p:spPr>
          <a:xfrm>
            <a:off x="0" y="2381878"/>
            <a:ext cx="12157726" cy="2896840"/>
          </a:xfrm>
          <a:prstGeom prst="rect">
            <a:avLst/>
          </a:prstGeom>
        </p:spPr>
      </p:pic>
    </p:spTree>
    <p:extLst>
      <p:ext uri="{BB962C8B-B14F-4D97-AF65-F5344CB8AC3E}">
        <p14:creationId xmlns:p14="http://schemas.microsoft.com/office/powerpoint/2010/main" val="372620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9"/>
        <p:cNvGrpSpPr/>
        <p:nvPr/>
      </p:nvGrpSpPr>
      <p:grpSpPr>
        <a:xfrm>
          <a:off x="0" y="0"/>
          <a:ext cx="0" cy="0"/>
          <a:chOff x="0" y="0"/>
          <a:chExt cx="0" cy="0"/>
        </a:xfrm>
      </p:grpSpPr>
      <p:pic>
        <p:nvPicPr>
          <p:cNvPr id="380" name="Google Shape;380;p27"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381" name="Google Shape;381;p27"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382" name="Google Shape;382;p27"/>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3" name="Google Shape;383;p27"/>
          <p:cNvSpPr txBox="1"/>
          <p:nvPr/>
        </p:nvSpPr>
        <p:spPr>
          <a:xfrm>
            <a:off x="3990975" y="242887"/>
            <a:ext cx="2450306"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2. DỮ LIỆU</a:t>
            </a:r>
            <a:endParaRPr/>
          </a:p>
        </p:txBody>
      </p:sp>
      <p:sp>
        <p:nvSpPr>
          <p:cNvPr id="384" name="Google Shape;384;p27"/>
          <p:cNvSpPr txBox="1"/>
          <p:nvPr/>
        </p:nvSpPr>
        <p:spPr>
          <a:xfrm>
            <a:off x="571500" y="1143000"/>
            <a:ext cx="5370671"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Gán Nhãn &amp; Tổ Chức Lưu Trữ</a:t>
            </a:r>
            <a:endParaRPr/>
          </a:p>
        </p:txBody>
      </p:sp>
      <p:sp>
        <p:nvSpPr>
          <p:cNvPr id="385" name="Google Shape;385;p27"/>
          <p:cNvSpPr/>
          <p:nvPr/>
        </p:nvSpPr>
        <p:spPr>
          <a:xfrm>
            <a:off x="571500" y="1657350"/>
            <a:ext cx="51149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6" name="Google Shape;386;p27"/>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389" name="Google Shape;389;p27"/>
          <p:cNvSpPr txBox="1"/>
          <p:nvPr/>
        </p:nvSpPr>
        <p:spPr>
          <a:xfrm>
            <a:off x="571500" y="1971675"/>
            <a:ext cx="555069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Cấu Trúc Thư Mục</a:t>
            </a:r>
            <a:endParaRPr/>
          </a:p>
        </p:txBody>
      </p:sp>
      <p:sp>
        <p:nvSpPr>
          <p:cNvPr id="390" name="Google Shape;390;p27"/>
          <p:cNvSpPr txBox="1"/>
          <p:nvPr/>
        </p:nvSpPr>
        <p:spPr>
          <a:xfrm>
            <a:off x="571500" y="2419350"/>
            <a:ext cx="5286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Mỗi nhân viên là một Class (Lớp). Tên thư mục chính là nhãn định danh (Mã nhân viên).</a:t>
            </a:r>
            <a:endParaRPr/>
          </a:p>
        </p:txBody>
      </p:sp>
      <p:sp>
        <p:nvSpPr>
          <p:cNvPr id="391" name="Google Shape;391;p27"/>
          <p:cNvSpPr/>
          <p:nvPr/>
        </p:nvSpPr>
        <p:spPr>
          <a:xfrm>
            <a:off x="571500" y="3158430"/>
            <a:ext cx="5286375" cy="1962150"/>
          </a:xfrm>
          <a:prstGeom prst="rect">
            <a:avLst/>
          </a:prstGeom>
          <a:solidFill>
            <a:srgbClr val="FEF3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2" name="Google Shape;392;p27"/>
          <p:cNvSpPr txBox="1"/>
          <p:nvPr/>
        </p:nvSpPr>
        <p:spPr>
          <a:xfrm>
            <a:off x="952500" y="3539430"/>
            <a:ext cx="4524375" cy="1200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92400E"/>
                </a:solidFill>
                <a:latin typeface="Arial"/>
                <a:ea typeface="Arial"/>
                <a:cs typeface="Arial"/>
                <a:sym typeface="Arial"/>
              </a:rPr>
              <a:t> dataset/</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92400E"/>
                </a:solidFill>
                <a:latin typeface="Arial"/>
                <a:ea typeface="Arial"/>
                <a:cs typeface="Arial"/>
                <a:sym typeface="Arial"/>
              </a:rPr>
              <a:t> ├── in-house/</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92400E"/>
                </a:solidFill>
                <a:latin typeface="Arial"/>
                <a:ea typeface="Arial"/>
                <a:cs typeface="Arial"/>
                <a:sym typeface="Arial"/>
              </a:rPr>
              <a:t> │ ├── NV001/ (Chứa ảnh NV001)</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92400E"/>
                </a:solidFill>
                <a:latin typeface="Arial"/>
                <a:ea typeface="Arial"/>
                <a:cs typeface="Arial"/>
                <a:sym typeface="Arial"/>
              </a:rPr>
              <a:t> │ ├── NV002/</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92400E"/>
                </a:solidFill>
                <a:latin typeface="Arial"/>
                <a:ea typeface="Arial"/>
                <a:cs typeface="Arial"/>
                <a:sym typeface="Arial"/>
              </a:rPr>
              <a:t> ├── vggface2/</a:t>
            </a:r>
            <a:br>
              <a:rPr lang="en-US" sz="1800" b="0" i="0" u="none" strike="noStrike" cap="none">
                <a:solidFill>
                  <a:schemeClr val="dk1"/>
                </a:solidFill>
                <a:latin typeface="Calibri"/>
                <a:ea typeface="Calibri"/>
                <a:cs typeface="Calibri"/>
                <a:sym typeface="Calibri"/>
              </a:rPr>
            </a:br>
            <a:r>
              <a:rPr lang="en-US" sz="1200" b="0" i="1" u="none" strike="noStrike" cap="none">
                <a:solidFill>
                  <a:srgbClr val="92400E"/>
                </a:solidFill>
                <a:latin typeface="Arial"/>
                <a:ea typeface="Arial"/>
                <a:cs typeface="Arial"/>
                <a:sym typeface="Arial"/>
              </a:rPr>
              <a:t> ├── celeba_spoof/ </a:t>
            </a:r>
            <a:endParaRPr/>
          </a:p>
        </p:txBody>
      </p:sp>
      <p:sp>
        <p:nvSpPr>
          <p:cNvPr id="393" name="Google Shape;393;p27"/>
          <p:cNvSpPr/>
          <p:nvPr/>
        </p:nvSpPr>
        <p:spPr>
          <a:xfrm>
            <a:off x="571500" y="3158430"/>
            <a:ext cx="76200" cy="196215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4" name="Google Shape;394;p27"/>
          <p:cNvSpPr txBox="1"/>
          <p:nvPr/>
        </p:nvSpPr>
        <p:spPr>
          <a:xfrm>
            <a:off x="6334125" y="1971675"/>
            <a:ext cx="555069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Tiêu Chí Lọc Dữ Liệu</a:t>
            </a:r>
            <a:endParaRPr/>
          </a:p>
        </p:txBody>
      </p:sp>
      <p:sp>
        <p:nvSpPr>
          <p:cNvPr id="395" name="Google Shape;395;p27"/>
          <p:cNvSpPr txBox="1"/>
          <p:nvPr/>
        </p:nvSpPr>
        <p:spPr>
          <a:xfrm>
            <a:off x="7096125" y="2400300"/>
            <a:ext cx="4524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Ảnh rõ nét (đo bằng phương sai Laplacian).</a:t>
            </a:r>
            <a:endParaRPr/>
          </a:p>
        </p:txBody>
      </p:sp>
      <p:sp>
        <p:nvSpPr>
          <p:cNvPr id="396" name="Google Shape;396;p27"/>
          <p:cNvSpPr txBox="1"/>
          <p:nvPr/>
        </p:nvSpPr>
        <p:spPr>
          <a:xfrm>
            <a:off x="7096125" y="2912715"/>
            <a:ext cx="4524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Độ sáng an toàn (Loại bỏ ảnh quá tối/cháy sáng).</a:t>
            </a:r>
            <a:endParaRPr/>
          </a:p>
        </p:txBody>
      </p:sp>
      <p:sp>
        <p:nvSpPr>
          <p:cNvPr id="397" name="Google Shape;397;p27"/>
          <p:cNvSpPr txBox="1"/>
          <p:nvPr/>
        </p:nvSpPr>
        <p:spPr>
          <a:xfrm>
            <a:off x="7096125" y="3425130"/>
            <a:ext cx="4524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Chỉ chứa 1 khuôn mặt trong khung hình.</a:t>
            </a:r>
            <a:endParaRPr/>
          </a:p>
        </p:txBody>
      </p:sp>
      <p:pic>
        <p:nvPicPr>
          <p:cNvPr id="398" name="Google Shape;398;p27" descr="image.png"/>
          <p:cNvPicPr preferRelativeResize="0"/>
          <p:nvPr/>
        </p:nvPicPr>
        <p:blipFill rotWithShape="1">
          <a:blip r:embed="rId5">
            <a:alphaModFix/>
          </a:blip>
          <a:srcRect/>
          <a:stretch/>
        </p:blipFill>
        <p:spPr>
          <a:xfrm>
            <a:off x="6715125" y="2443162"/>
            <a:ext cx="171450" cy="200025"/>
          </a:xfrm>
          <a:prstGeom prst="rect">
            <a:avLst/>
          </a:prstGeom>
          <a:noFill/>
          <a:ln>
            <a:noFill/>
          </a:ln>
        </p:spPr>
      </p:pic>
      <p:pic>
        <p:nvPicPr>
          <p:cNvPr id="399" name="Google Shape;399;p27" descr="image.png"/>
          <p:cNvPicPr preferRelativeResize="0"/>
          <p:nvPr/>
        </p:nvPicPr>
        <p:blipFill rotWithShape="1">
          <a:blip r:embed="rId5">
            <a:alphaModFix/>
          </a:blip>
          <a:srcRect/>
          <a:stretch/>
        </p:blipFill>
        <p:spPr>
          <a:xfrm>
            <a:off x="6715125" y="2955577"/>
            <a:ext cx="171450" cy="200025"/>
          </a:xfrm>
          <a:prstGeom prst="rect">
            <a:avLst/>
          </a:prstGeom>
          <a:noFill/>
          <a:ln>
            <a:noFill/>
          </a:ln>
        </p:spPr>
      </p:pic>
      <p:pic>
        <p:nvPicPr>
          <p:cNvPr id="400" name="Google Shape;400;p27" descr="image.png"/>
          <p:cNvPicPr preferRelativeResize="0"/>
          <p:nvPr/>
        </p:nvPicPr>
        <p:blipFill rotWithShape="1">
          <a:blip r:embed="rId5">
            <a:alphaModFix/>
          </a:blip>
          <a:srcRect/>
          <a:stretch/>
        </p:blipFill>
        <p:spPr>
          <a:xfrm>
            <a:off x="6715125" y="3467992"/>
            <a:ext cx="171450" cy="200025"/>
          </a:xfrm>
          <a:prstGeom prst="rect">
            <a:avLst/>
          </a:prstGeom>
          <a:noFill/>
          <a:ln>
            <a:noFill/>
          </a:ln>
        </p:spPr>
      </p:pic>
      <p:pic>
        <p:nvPicPr>
          <p:cNvPr id="3" name="Picture 2" descr="Thông báo">
            <a:extLst>
              <a:ext uri="{FF2B5EF4-FFF2-40B4-BE49-F238E27FC236}">
                <a16:creationId xmlns:a16="http://schemas.microsoft.com/office/drawing/2014/main" id="{2765F883-7FA9-B298-F320-53F1E18D8708}"/>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4"/>
        <p:cNvGrpSpPr/>
        <p:nvPr/>
      </p:nvGrpSpPr>
      <p:grpSpPr>
        <a:xfrm>
          <a:off x="0" y="0"/>
          <a:ext cx="0" cy="0"/>
          <a:chOff x="0" y="0"/>
          <a:chExt cx="0" cy="0"/>
        </a:xfrm>
      </p:grpSpPr>
      <p:pic>
        <p:nvPicPr>
          <p:cNvPr id="405" name="Google Shape;405;p28"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406" name="Google Shape;406;p28" descr="image.png"/>
          <p:cNvPicPr preferRelativeResize="0"/>
          <p:nvPr/>
        </p:nvPicPr>
        <p:blipFill rotWithShape="1">
          <a:blip r:embed="rId4">
            <a:alphaModFix/>
          </a:blip>
          <a:srcRect/>
          <a:stretch/>
        </p:blipFill>
        <p:spPr>
          <a:xfrm>
            <a:off x="6334125" y="1971675"/>
            <a:ext cx="5286375" cy="3810000"/>
          </a:xfrm>
          <a:prstGeom prst="rect">
            <a:avLst/>
          </a:prstGeom>
          <a:noFill/>
          <a:ln>
            <a:noFill/>
          </a:ln>
        </p:spPr>
      </p:pic>
      <p:pic>
        <p:nvPicPr>
          <p:cNvPr id="407" name="Google Shape;407;p28"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408" name="Google Shape;408;p28"/>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9" name="Google Shape;409;p28"/>
          <p:cNvSpPr txBox="1"/>
          <p:nvPr/>
        </p:nvSpPr>
        <p:spPr>
          <a:xfrm>
            <a:off x="3990975" y="242887"/>
            <a:ext cx="275034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2. TIỀN XỬ LÝ</a:t>
            </a:r>
            <a:endParaRPr/>
          </a:p>
        </p:txBody>
      </p:sp>
      <p:sp>
        <p:nvSpPr>
          <p:cNvPr id="410" name="Google Shape;410;p28"/>
          <p:cNvSpPr txBox="1"/>
          <p:nvPr/>
        </p:nvSpPr>
        <p:spPr>
          <a:xfrm>
            <a:off x="571500" y="1143000"/>
            <a:ext cx="7090886"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Tiền Xử Lý: Phát Hiện (Face Detection)</a:t>
            </a:r>
            <a:endParaRPr/>
          </a:p>
        </p:txBody>
      </p:sp>
      <p:sp>
        <p:nvSpPr>
          <p:cNvPr id="411" name="Google Shape;411;p28"/>
          <p:cNvSpPr/>
          <p:nvPr/>
        </p:nvSpPr>
        <p:spPr>
          <a:xfrm>
            <a:off x="571500" y="1657350"/>
            <a:ext cx="67532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2" name="Google Shape;412;p28"/>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415" name="Google Shape;415;p28"/>
          <p:cNvSpPr txBox="1"/>
          <p:nvPr/>
        </p:nvSpPr>
        <p:spPr>
          <a:xfrm>
            <a:off x="571500" y="2143125"/>
            <a:ext cx="5286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Hệ thống sử dụng bộ mô hình </a:t>
            </a:r>
            <a:r>
              <a:rPr lang="en-US" sz="1350" b="1" i="0" u="none" strike="noStrike" cap="none">
                <a:solidFill>
                  <a:srgbClr val="334155"/>
                </a:solidFill>
                <a:latin typeface="Open Sans"/>
                <a:ea typeface="Open Sans"/>
                <a:cs typeface="Open Sans"/>
                <a:sym typeface="Open Sans"/>
              </a:rPr>
              <a:t>SCRFD</a:t>
            </a:r>
            <a:r>
              <a:rPr lang="en-US" sz="1350" b="0" i="0" u="none" strike="noStrike" cap="none">
                <a:solidFill>
                  <a:srgbClr val="334155"/>
                </a:solidFill>
                <a:latin typeface="Open Sans"/>
                <a:ea typeface="Open Sans"/>
                <a:cs typeface="Open Sans"/>
                <a:sym typeface="Open Sans"/>
              </a:rPr>
              <a:t> (thuộc framework InsightFace buffalo_l) để phát hiện vị trí khuôn mặt.</a:t>
            </a:r>
            <a:endParaRPr/>
          </a:p>
        </p:txBody>
      </p:sp>
      <p:pic>
        <p:nvPicPr>
          <p:cNvPr id="416" name="Google Shape;416;p28" descr="image.png"/>
          <p:cNvPicPr preferRelativeResize="0"/>
          <p:nvPr/>
        </p:nvPicPr>
        <p:blipFill rotWithShape="1">
          <a:blip r:embed="rId6">
            <a:alphaModFix/>
          </a:blip>
          <a:srcRect/>
          <a:stretch/>
        </p:blipFill>
        <p:spPr>
          <a:xfrm>
            <a:off x="6334125" y="1971675"/>
            <a:ext cx="5286375" cy="3810000"/>
          </a:xfrm>
          <a:prstGeom prst="rect">
            <a:avLst/>
          </a:prstGeom>
          <a:noFill/>
          <a:ln>
            <a:noFill/>
          </a:ln>
        </p:spPr>
      </p:pic>
      <p:sp>
        <p:nvSpPr>
          <p:cNvPr id="417" name="Google Shape;417;p28"/>
          <p:cNvSpPr txBox="1"/>
          <p:nvPr/>
        </p:nvSpPr>
        <p:spPr>
          <a:xfrm>
            <a:off x="952500" y="2863155"/>
            <a:ext cx="4905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Đầu ra:</a:t>
            </a:r>
            <a:r>
              <a:rPr lang="en-US" sz="1350" b="0" i="0" u="none" strike="noStrike" cap="none">
                <a:solidFill>
                  <a:srgbClr val="334155"/>
                </a:solidFill>
                <a:latin typeface="Open Sans"/>
                <a:ea typeface="Open Sans"/>
                <a:cs typeface="Open Sans"/>
                <a:sym typeface="Open Sans"/>
              </a:rPr>
              <a:t> Tọa độ Bounding Box (x1, y1, x2, y2).</a:t>
            </a:r>
            <a:endParaRPr/>
          </a:p>
        </p:txBody>
      </p:sp>
      <p:sp>
        <p:nvSpPr>
          <p:cNvPr id="418" name="Google Shape;418;p28"/>
          <p:cNvSpPr txBox="1"/>
          <p:nvPr/>
        </p:nvSpPr>
        <p:spPr>
          <a:xfrm>
            <a:off x="952500" y="3375570"/>
            <a:ext cx="4905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Landmarks:</a:t>
            </a:r>
            <a:r>
              <a:rPr lang="en-US" sz="1350" b="0" i="0" u="none" strike="noStrike" cap="none">
                <a:solidFill>
                  <a:srgbClr val="334155"/>
                </a:solidFill>
                <a:latin typeface="Open Sans"/>
                <a:ea typeface="Open Sans"/>
                <a:cs typeface="Open Sans"/>
                <a:sym typeface="Open Sans"/>
              </a:rPr>
              <a:t> Tọa độ 5 điểm mốc (2 mắt, đỉnh mũi, 2 khóe miệng).</a:t>
            </a:r>
            <a:endParaRPr/>
          </a:p>
        </p:txBody>
      </p:sp>
      <p:sp>
        <p:nvSpPr>
          <p:cNvPr id="419" name="Google Shape;419;p28"/>
          <p:cNvSpPr txBox="1"/>
          <p:nvPr/>
        </p:nvSpPr>
        <p:spPr>
          <a:xfrm>
            <a:off x="952500" y="4162276"/>
            <a:ext cx="4905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Ưu điểm:</a:t>
            </a:r>
            <a:r>
              <a:rPr lang="en-US" sz="1350" b="0" i="0" u="none" strike="noStrike" cap="none">
                <a:solidFill>
                  <a:srgbClr val="334155"/>
                </a:solidFill>
                <a:latin typeface="Open Sans"/>
                <a:ea typeface="Open Sans"/>
                <a:cs typeface="Open Sans"/>
                <a:sym typeface="Open Sans"/>
              </a:rPr>
              <a:t> Nhẹ, tốc độ nhanh, tối ưu cho xử lý thời gian thực.</a:t>
            </a:r>
            <a:endParaRPr/>
          </a:p>
        </p:txBody>
      </p:sp>
      <p:pic>
        <p:nvPicPr>
          <p:cNvPr id="420" name="Google Shape;420;p28" descr="image.png"/>
          <p:cNvPicPr preferRelativeResize="0"/>
          <p:nvPr/>
        </p:nvPicPr>
        <p:blipFill rotWithShape="1">
          <a:blip r:embed="rId7">
            <a:alphaModFix/>
          </a:blip>
          <a:srcRect/>
          <a:stretch/>
        </p:blipFill>
        <p:spPr>
          <a:xfrm>
            <a:off x="571500" y="2906017"/>
            <a:ext cx="190500" cy="200025"/>
          </a:xfrm>
          <a:prstGeom prst="rect">
            <a:avLst/>
          </a:prstGeom>
          <a:noFill/>
          <a:ln>
            <a:noFill/>
          </a:ln>
        </p:spPr>
      </p:pic>
      <p:pic>
        <p:nvPicPr>
          <p:cNvPr id="421" name="Google Shape;421;p28" descr="image.png"/>
          <p:cNvPicPr preferRelativeResize="0"/>
          <p:nvPr/>
        </p:nvPicPr>
        <p:blipFill rotWithShape="1">
          <a:blip r:embed="rId8">
            <a:alphaModFix/>
          </a:blip>
          <a:srcRect/>
          <a:stretch/>
        </p:blipFill>
        <p:spPr>
          <a:xfrm>
            <a:off x="571500" y="3418433"/>
            <a:ext cx="171450" cy="200025"/>
          </a:xfrm>
          <a:prstGeom prst="rect">
            <a:avLst/>
          </a:prstGeom>
          <a:noFill/>
          <a:ln>
            <a:noFill/>
          </a:ln>
        </p:spPr>
      </p:pic>
      <p:pic>
        <p:nvPicPr>
          <p:cNvPr id="422" name="Google Shape;422;p28" descr="image.png"/>
          <p:cNvPicPr preferRelativeResize="0"/>
          <p:nvPr/>
        </p:nvPicPr>
        <p:blipFill rotWithShape="1">
          <a:blip r:embed="rId8">
            <a:alphaModFix/>
          </a:blip>
          <a:srcRect/>
          <a:stretch/>
        </p:blipFill>
        <p:spPr>
          <a:xfrm>
            <a:off x="571500" y="4205138"/>
            <a:ext cx="171450" cy="200025"/>
          </a:xfrm>
          <a:prstGeom prst="rect">
            <a:avLst/>
          </a:prstGeom>
          <a:noFill/>
          <a:ln>
            <a:noFill/>
          </a:ln>
        </p:spPr>
      </p:pic>
      <p:pic>
        <p:nvPicPr>
          <p:cNvPr id="3" name="Picture 2" descr="Thông báo">
            <a:extLst>
              <a:ext uri="{FF2B5EF4-FFF2-40B4-BE49-F238E27FC236}">
                <a16:creationId xmlns:a16="http://schemas.microsoft.com/office/drawing/2014/main" id="{443FE178-5D4A-8B2D-0F51-2802DC58ACAD}"/>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6"/>
        <p:cNvGrpSpPr/>
        <p:nvPr/>
      </p:nvGrpSpPr>
      <p:grpSpPr>
        <a:xfrm>
          <a:off x="0" y="0"/>
          <a:ext cx="0" cy="0"/>
          <a:chOff x="0" y="0"/>
          <a:chExt cx="0" cy="0"/>
        </a:xfrm>
      </p:grpSpPr>
      <p:pic>
        <p:nvPicPr>
          <p:cNvPr id="427" name="Google Shape;427;p29"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428" name="Google Shape;428;p29" descr="image.png"/>
          <p:cNvPicPr preferRelativeResize="0"/>
          <p:nvPr/>
        </p:nvPicPr>
        <p:blipFill rotWithShape="1">
          <a:blip r:embed="rId4">
            <a:alphaModFix/>
          </a:blip>
          <a:srcRect/>
          <a:stretch/>
        </p:blipFill>
        <p:spPr>
          <a:xfrm>
            <a:off x="571500" y="1971675"/>
            <a:ext cx="5286375" cy="4505325"/>
          </a:xfrm>
          <a:prstGeom prst="rect">
            <a:avLst/>
          </a:prstGeom>
          <a:noFill/>
          <a:ln>
            <a:noFill/>
          </a:ln>
        </p:spPr>
      </p:pic>
      <p:pic>
        <p:nvPicPr>
          <p:cNvPr id="429" name="Google Shape;429;p29" descr="image.png"/>
          <p:cNvPicPr preferRelativeResize="0"/>
          <p:nvPr/>
        </p:nvPicPr>
        <p:blipFill rotWithShape="1">
          <a:blip r:embed="rId4">
            <a:alphaModFix/>
          </a:blip>
          <a:srcRect/>
          <a:stretch/>
        </p:blipFill>
        <p:spPr>
          <a:xfrm>
            <a:off x="6334125" y="1971675"/>
            <a:ext cx="5286375" cy="4505325"/>
          </a:xfrm>
          <a:prstGeom prst="rect">
            <a:avLst/>
          </a:prstGeom>
          <a:noFill/>
          <a:ln>
            <a:noFill/>
          </a:ln>
        </p:spPr>
      </p:pic>
      <p:pic>
        <p:nvPicPr>
          <p:cNvPr id="430" name="Google Shape;430;p29"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431" name="Google Shape;431;p29"/>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2" name="Google Shape;432;p29"/>
          <p:cNvSpPr txBox="1"/>
          <p:nvPr/>
        </p:nvSpPr>
        <p:spPr>
          <a:xfrm>
            <a:off x="3990975" y="242887"/>
            <a:ext cx="275034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2. TIỀN XỬ LÝ</a:t>
            </a:r>
            <a:endParaRPr/>
          </a:p>
        </p:txBody>
      </p:sp>
      <p:sp>
        <p:nvSpPr>
          <p:cNvPr id="433" name="Google Shape;433;p29"/>
          <p:cNvSpPr txBox="1"/>
          <p:nvPr/>
        </p:nvSpPr>
        <p:spPr>
          <a:xfrm>
            <a:off x="571500" y="1143000"/>
            <a:ext cx="6780847"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Căn Chỉnh &amp; Chuẩn Hóa (Alignment)</a:t>
            </a:r>
            <a:endParaRPr/>
          </a:p>
        </p:txBody>
      </p:sp>
      <p:sp>
        <p:nvSpPr>
          <p:cNvPr id="434" name="Google Shape;434;p29"/>
          <p:cNvSpPr/>
          <p:nvPr/>
        </p:nvSpPr>
        <p:spPr>
          <a:xfrm>
            <a:off x="571500" y="1657350"/>
            <a:ext cx="64579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5" name="Google Shape;435;p29"/>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438" name="Google Shape;438;p29"/>
          <p:cNvSpPr txBox="1"/>
          <p:nvPr/>
        </p:nvSpPr>
        <p:spPr>
          <a:xfrm>
            <a:off x="904875" y="2257425"/>
            <a:ext cx="490061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Biến Đổi Affine</a:t>
            </a:r>
            <a:endParaRPr/>
          </a:p>
        </p:txBody>
      </p:sp>
      <p:sp>
        <p:nvSpPr>
          <p:cNvPr id="439" name="Google Shape;439;p29"/>
          <p:cNvSpPr txBox="1"/>
          <p:nvPr/>
        </p:nvSpPr>
        <p:spPr>
          <a:xfrm>
            <a:off x="904875" y="2705100"/>
            <a:ext cx="466725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Sử dụng 5 điểm landmarks để xoay và cắt khuôn mặt về cùng một hệ quy chiếu chuẩn. Khắc phục vấn đề ảnh nghiêng, giúp mô hình tập trung vào đặc trưng nhận dạng.</a:t>
            </a:r>
            <a:endParaRPr/>
          </a:p>
        </p:txBody>
      </p:sp>
      <p:sp>
        <p:nvSpPr>
          <p:cNvPr id="440" name="Google Shape;440;p29"/>
          <p:cNvSpPr txBox="1"/>
          <p:nvPr/>
        </p:nvSpPr>
        <p:spPr>
          <a:xfrm>
            <a:off x="6667500" y="2257425"/>
            <a:ext cx="490061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Chuẩn Hóa Pixel</a:t>
            </a:r>
            <a:endParaRPr/>
          </a:p>
        </p:txBody>
      </p:sp>
      <p:sp>
        <p:nvSpPr>
          <p:cNvPr id="441" name="Google Shape;441;p29"/>
          <p:cNvSpPr txBox="1"/>
          <p:nvPr/>
        </p:nvSpPr>
        <p:spPr>
          <a:xfrm>
            <a:off x="6667500" y="2705100"/>
            <a:ext cx="4667250" cy="8323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Kích thước ảnh được Resize về cố định </a:t>
            </a:r>
            <a:r>
              <a:rPr lang="en-US" sz="1350" b="1" i="0" u="none" strike="noStrike" cap="none">
                <a:solidFill>
                  <a:srgbClr val="334155"/>
                </a:solidFill>
                <a:latin typeface="Open Sans"/>
                <a:ea typeface="Open Sans"/>
                <a:cs typeface="Open Sans"/>
                <a:sym typeface="Open Sans"/>
              </a:rPr>
              <a:t>112x112 px</a:t>
            </a:r>
            <a:r>
              <a:rPr lang="en-US" sz="1350" b="0" i="0" u="none" strike="noStrike" cap="none">
                <a:solidFill>
                  <a:srgbClr val="334155"/>
                </a:solidFill>
                <a:latin typeface="Open Sans"/>
                <a:ea typeface="Open Sans"/>
                <a:cs typeface="Open Sans"/>
                <a:sym typeface="Open Sans"/>
              </a:rPr>
              <a:t>. Các giá trị pixel được Normalize về khoảng [-1, 1] (Mean=0.5, Std=0.5) giúp quá trình huấn luyện hội tụ tốt hơn.</a:t>
            </a:r>
            <a:endParaRPr/>
          </a:p>
        </p:txBody>
      </p:sp>
      <p:pic>
        <p:nvPicPr>
          <p:cNvPr id="3" name="Picture 2" descr="Thông báo">
            <a:extLst>
              <a:ext uri="{FF2B5EF4-FFF2-40B4-BE49-F238E27FC236}">
                <a16:creationId xmlns:a16="http://schemas.microsoft.com/office/drawing/2014/main" id="{762EA748-51A7-9969-C0E5-B6BA333B74F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5"/>
        <p:cNvGrpSpPr/>
        <p:nvPr/>
      </p:nvGrpSpPr>
      <p:grpSpPr>
        <a:xfrm>
          <a:off x="0" y="0"/>
          <a:ext cx="0" cy="0"/>
          <a:chOff x="0" y="0"/>
          <a:chExt cx="0" cy="0"/>
        </a:xfrm>
      </p:grpSpPr>
      <p:pic>
        <p:nvPicPr>
          <p:cNvPr id="446" name="Google Shape;446;p30"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447" name="Google Shape;447;p30"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448" name="Google Shape;448;p30"/>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9" name="Google Shape;449;p30"/>
          <p:cNvSpPr txBox="1"/>
          <p:nvPr/>
        </p:nvSpPr>
        <p:spPr>
          <a:xfrm>
            <a:off x="3990975" y="242887"/>
            <a:ext cx="275034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2. TIỀN XỬ LÝ</a:t>
            </a:r>
            <a:endParaRPr/>
          </a:p>
        </p:txBody>
      </p:sp>
      <p:sp>
        <p:nvSpPr>
          <p:cNvPr id="450" name="Google Shape;450;p30"/>
          <p:cNvSpPr txBox="1"/>
          <p:nvPr/>
        </p:nvSpPr>
        <p:spPr>
          <a:xfrm>
            <a:off x="571500" y="1143000"/>
            <a:ext cx="7860982"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Data Augmentation (Tăng Cường Dữ Liệu)</a:t>
            </a:r>
            <a:endParaRPr/>
          </a:p>
        </p:txBody>
      </p:sp>
      <p:sp>
        <p:nvSpPr>
          <p:cNvPr id="451" name="Google Shape;451;p30"/>
          <p:cNvSpPr/>
          <p:nvPr/>
        </p:nvSpPr>
        <p:spPr>
          <a:xfrm>
            <a:off x="571500" y="1657350"/>
            <a:ext cx="74866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52" name="Google Shape;452;p30"/>
          <p:cNvSpPr txBox="1"/>
          <p:nvPr/>
        </p:nvSpPr>
        <p:spPr>
          <a:xfrm>
            <a:off x="571500" y="2143125"/>
            <a:ext cx="58388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Áp dụng các kỹ thuật biến đổi ảnh trên tập Training để chống Overfitting:</a:t>
            </a:r>
            <a:endParaRPr/>
          </a:p>
        </p:txBody>
      </p:sp>
      <p:sp>
        <p:nvSpPr>
          <p:cNvPr id="453" name="Google Shape;453;p30"/>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456" name="Google Shape;456;p30"/>
          <p:cNvSpPr txBox="1"/>
          <p:nvPr/>
        </p:nvSpPr>
        <p:spPr>
          <a:xfrm>
            <a:off x="952500" y="2588865"/>
            <a:ext cx="78771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Random Horizontal Flip:</a:t>
            </a:r>
            <a:r>
              <a:rPr lang="en-US" sz="1350" b="0" i="0" u="none" strike="noStrike" cap="none">
                <a:solidFill>
                  <a:srgbClr val="334155"/>
                </a:solidFill>
                <a:latin typeface="Open Sans"/>
                <a:ea typeface="Open Sans"/>
                <a:cs typeface="Open Sans"/>
                <a:sym typeface="Open Sans"/>
              </a:rPr>
              <a:t> Lật ngang ảnh mô phỏng hướng quay đầu (p=0.5).</a:t>
            </a:r>
            <a:endParaRPr/>
          </a:p>
        </p:txBody>
      </p:sp>
      <p:sp>
        <p:nvSpPr>
          <p:cNvPr id="457" name="Google Shape;457;p30"/>
          <p:cNvSpPr txBox="1"/>
          <p:nvPr/>
        </p:nvSpPr>
        <p:spPr>
          <a:xfrm>
            <a:off x="952500" y="3101280"/>
            <a:ext cx="78771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Color Jitter:</a:t>
            </a:r>
            <a:r>
              <a:rPr lang="en-US" sz="1350" b="0" i="0" u="none" strike="noStrike" cap="none">
                <a:solidFill>
                  <a:srgbClr val="334155"/>
                </a:solidFill>
                <a:latin typeface="Open Sans"/>
                <a:ea typeface="Open Sans"/>
                <a:cs typeface="Open Sans"/>
                <a:sym typeface="Open Sans"/>
              </a:rPr>
              <a:t> Thay đổi độ sáng (30%), tương phản (30%), bão hòa màu (20%).</a:t>
            </a:r>
            <a:endParaRPr/>
          </a:p>
        </p:txBody>
      </p:sp>
      <p:sp>
        <p:nvSpPr>
          <p:cNvPr id="458" name="Google Shape;458;p30"/>
          <p:cNvSpPr txBox="1"/>
          <p:nvPr/>
        </p:nvSpPr>
        <p:spPr>
          <a:xfrm>
            <a:off x="952500" y="3613695"/>
            <a:ext cx="78771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Gaussian Blur:</a:t>
            </a:r>
            <a:r>
              <a:rPr lang="en-US" sz="1350" b="0" i="0" u="none" strike="noStrike" cap="none">
                <a:solidFill>
                  <a:srgbClr val="334155"/>
                </a:solidFill>
                <a:latin typeface="Open Sans"/>
                <a:ea typeface="Open Sans"/>
                <a:cs typeface="Open Sans"/>
                <a:sym typeface="Open Sans"/>
              </a:rPr>
              <a:t> Làm mờ nhẹ ảnh để mô phỏng camera chất lượng thấp hoặc chuyển động nhanh.</a:t>
            </a:r>
            <a:endParaRPr/>
          </a:p>
        </p:txBody>
      </p:sp>
      <p:sp>
        <p:nvSpPr>
          <p:cNvPr id="459" name="Google Shape;459;p30"/>
          <p:cNvSpPr txBox="1"/>
          <p:nvPr/>
        </p:nvSpPr>
        <p:spPr>
          <a:xfrm>
            <a:off x="952500" y="4126110"/>
            <a:ext cx="78771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Random Erasing:</a:t>
            </a:r>
            <a:r>
              <a:rPr lang="en-US" sz="1350" b="0" i="0" u="none" strike="noStrike" cap="none">
                <a:solidFill>
                  <a:srgbClr val="334155"/>
                </a:solidFill>
                <a:latin typeface="Open Sans"/>
                <a:ea typeface="Open Sans"/>
                <a:cs typeface="Open Sans"/>
                <a:sym typeface="Open Sans"/>
              </a:rPr>
              <a:t> Che khuất một vùng xám nhỏ mô phỏng việc đeo khẩu trang hoặc bị vật cản.</a:t>
            </a:r>
            <a:endParaRPr/>
          </a:p>
        </p:txBody>
      </p:sp>
      <p:pic>
        <p:nvPicPr>
          <p:cNvPr id="460" name="Google Shape;460;p30" descr="image.png"/>
          <p:cNvPicPr preferRelativeResize="0"/>
          <p:nvPr/>
        </p:nvPicPr>
        <p:blipFill rotWithShape="1">
          <a:blip r:embed="rId5">
            <a:alphaModFix/>
          </a:blip>
          <a:srcRect/>
          <a:stretch/>
        </p:blipFill>
        <p:spPr>
          <a:xfrm>
            <a:off x="571500" y="2631727"/>
            <a:ext cx="190500" cy="200025"/>
          </a:xfrm>
          <a:prstGeom prst="rect">
            <a:avLst/>
          </a:prstGeom>
          <a:noFill/>
          <a:ln>
            <a:noFill/>
          </a:ln>
        </p:spPr>
      </p:pic>
      <p:pic>
        <p:nvPicPr>
          <p:cNvPr id="461" name="Google Shape;461;p30" descr="image.png"/>
          <p:cNvPicPr preferRelativeResize="0"/>
          <p:nvPr/>
        </p:nvPicPr>
        <p:blipFill rotWithShape="1">
          <a:blip r:embed="rId5">
            <a:alphaModFix/>
          </a:blip>
          <a:srcRect/>
          <a:stretch/>
        </p:blipFill>
        <p:spPr>
          <a:xfrm>
            <a:off x="571500" y="3144142"/>
            <a:ext cx="190500" cy="200025"/>
          </a:xfrm>
          <a:prstGeom prst="rect">
            <a:avLst/>
          </a:prstGeom>
          <a:noFill/>
          <a:ln>
            <a:noFill/>
          </a:ln>
        </p:spPr>
      </p:pic>
      <p:pic>
        <p:nvPicPr>
          <p:cNvPr id="462" name="Google Shape;462;p30" descr="image.png"/>
          <p:cNvPicPr preferRelativeResize="0"/>
          <p:nvPr/>
        </p:nvPicPr>
        <p:blipFill rotWithShape="1">
          <a:blip r:embed="rId6">
            <a:alphaModFix/>
          </a:blip>
          <a:srcRect/>
          <a:stretch/>
        </p:blipFill>
        <p:spPr>
          <a:xfrm>
            <a:off x="571500" y="3656558"/>
            <a:ext cx="142875" cy="200025"/>
          </a:xfrm>
          <a:prstGeom prst="rect">
            <a:avLst/>
          </a:prstGeom>
          <a:noFill/>
          <a:ln>
            <a:noFill/>
          </a:ln>
        </p:spPr>
      </p:pic>
      <p:pic>
        <p:nvPicPr>
          <p:cNvPr id="463" name="Google Shape;463;p30" descr="image.png"/>
          <p:cNvPicPr preferRelativeResize="0"/>
          <p:nvPr/>
        </p:nvPicPr>
        <p:blipFill rotWithShape="1">
          <a:blip r:embed="rId7">
            <a:alphaModFix/>
          </a:blip>
          <a:srcRect/>
          <a:stretch/>
        </p:blipFill>
        <p:spPr>
          <a:xfrm>
            <a:off x="571500" y="4168973"/>
            <a:ext cx="219075" cy="200025"/>
          </a:xfrm>
          <a:prstGeom prst="rect">
            <a:avLst/>
          </a:prstGeom>
          <a:noFill/>
          <a:ln>
            <a:noFill/>
          </a:ln>
        </p:spPr>
      </p:pic>
      <p:pic>
        <p:nvPicPr>
          <p:cNvPr id="3" name="Picture 2" descr="Thông báo">
            <a:extLst>
              <a:ext uri="{FF2B5EF4-FFF2-40B4-BE49-F238E27FC236}">
                <a16:creationId xmlns:a16="http://schemas.microsoft.com/office/drawing/2014/main" id="{097DE985-74DC-F1DF-20BB-DC548A17B80E}"/>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7"/>
        <p:cNvGrpSpPr/>
        <p:nvPr/>
      </p:nvGrpSpPr>
      <p:grpSpPr>
        <a:xfrm>
          <a:off x="0" y="0"/>
          <a:ext cx="0" cy="0"/>
          <a:chOff x="0" y="0"/>
          <a:chExt cx="0" cy="0"/>
        </a:xfrm>
      </p:grpSpPr>
      <p:pic>
        <p:nvPicPr>
          <p:cNvPr id="468" name="Google Shape;468;p31" descr="image.png"/>
          <p:cNvPicPr preferRelativeResize="0"/>
          <p:nvPr/>
        </p:nvPicPr>
        <p:blipFill rotWithShape="1">
          <a:blip r:embed="rId3">
            <a:alphaModFix/>
          </a:blip>
          <a:srcRect/>
          <a:stretch/>
        </p:blipFill>
        <p:spPr>
          <a:xfrm>
            <a:off x="0" y="762000"/>
            <a:ext cx="12192000" cy="6096000"/>
          </a:xfrm>
          <a:prstGeom prst="rect">
            <a:avLst/>
          </a:prstGeom>
          <a:noFill/>
          <a:ln>
            <a:noFill/>
          </a:ln>
        </p:spPr>
      </p:pic>
      <p:pic>
        <p:nvPicPr>
          <p:cNvPr id="469" name="Google Shape;469;p31" descr="image.png"/>
          <p:cNvPicPr preferRelativeResize="0"/>
          <p:nvPr/>
        </p:nvPicPr>
        <p:blipFill rotWithShape="1">
          <a:blip r:embed="rId4">
            <a:alphaModFix/>
          </a:blip>
          <a:srcRect/>
          <a:stretch/>
        </p:blipFill>
        <p:spPr>
          <a:xfrm>
            <a:off x="381000" y="147637"/>
            <a:ext cx="609600" cy="466725"/>
          </a:xfrm>
          <a:prstGeom prst="rect">
            <a:avLst/>
          </a:prstGeom>
          <a:noFill/>
          <a:ln>
            <a:noFill/>
          </a:ln>
        </p:spPr>
      </p:pic>
      <p:pic>
        <p:nvPicPr>
          <p:cNvPr id="470" name="Google Shape;470;p31"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471" name="Google Shape;471;p31"/>
          <p:cNvSpPr txBox="1"/>
          <p:nvPr/>
        </p:nvSpPr>
        <p:spPr>
          <a:xfrm>
            <a:off x="2109787" y="2901255"/>
            <a:ext cx="8371046"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1E3A8A"/>
                </a:solidFill>
                <a:latin typeface="Montserrat"/>
                <a:ea typeface="Montserrat"/>
                <a:cs typeface="Montserrat"/>
                <a:sym typeface="Montserrat"/>
              </a:rPr>
              <a:t>CHƯƠNG 3: XÂY DỰNG MÔ HÌNH</a:t>
            </a:r>
            <a:endParaRPr/>
          </a:p>
        </p:txBody>
      </p:sp>
      <p:sp>
        <p:nvSpPr>
          <p:cNvPr id="472" name="Google Shape;472;p31"/>
          <p:cNvSpPr/>
          <p:nvPr/>
        </p:nvSpPr>
        <p:spPr>
          <a:xfrm>
            <a:off x="5619750" y="3768030"/>
            <a:ext cx="952500" cy="4762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3" name="Google Shape;473;p31"/>
          <p:cNvSpPr txBox="1"/>
          <p:nvPr/>
        </p:nvSpPr>
        <p:spPr>
          <a:xfrm>
            <a:off x="3881437" y="4272855"/>
            <a:ext cx="442912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Trích Xuất Đặc Trưng, ResNet-50 &amp; Thuật Toán ArcFace</a:t>
            </a:r>
            <a:endParaRPr/>
          </a:p>
        </p:txBody>
      </p:sp>
      <p:sp>
        <p:nvSpPr>
          <p:cNvPr id="474" name="Google Shape;474;p31"/>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pic>
        <p:nvPicPr>
          <p:cNvPr id="3" name="Picture 2" descr="Thông báo">
            <a:extLst>
              <a:ext uri="{FF2B5EF4-FFF2-40B4-BE49-F238E27FC236}">
                <a16:creationId xmlns:a16="http://schemas.microsoft.com/office/drawing/2014/main" id="{AF9F895D-0582-18DF-6DBA-BB6CB392521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0"/>
        <p:cNvGrpSpPr/>
        <p:nvPr/>
      </p:nvGrpSpPr>
      <p:grpSpPr>
        <a:xfrm>
          <a:off x="0" y="0"/>
          <a:ext cx="0" cy="0"/>
          <a:chOff x="0" y="0"/>
          <a:chExt cx="0" cy="0"/>
        </a:xfrm>
      </p:grpSpPr>
      <p:pic>
        <p:nvPicPr>
          <p:cNvPr id="481" name="Google Shape;481;p32"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482" name="Google Shape;482;p32"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483" name="Google Shape;483;p32"/>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4" name="Google Shape;484;p32"/>
          <p:cNvSpPr txBox="1"/>
          <p:nvPr/>
        </p:nvSpPr>
        <p:spPr>
          <a:xfrm>
            <a:off x="3990975" y="242887"/>
            <a:ext cx="257032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3. MÔ HÌNH</a:t>
            </a:r>
            <a:endParaRPr/>
          </a:p>
        </p:txBody>
      </p:sp>
      <p:sp>
        <p:nvSpPr>
          <p:cNvPr id="485" name="Google Shape;485;p32"/>
          <p:cNvSpPr txBox="1"/>
          <p:nvPr/>
        </p:nvSpPr>
        <p:spPr>
          <a:xfrm>
            <a:off x="571500" y="1972716"/>
            <a:ext cx="52006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Trích Chọn Đặc Trưng</a:t>
            </a:r>
            <a:endParaRPr/>
          </a:p>
        </p:txBody>
      </p:sp>
      <p:sp>
        <p:nvSpPr>
          <p:cNvPr id="486" name="Google Shape;486;p32"/>
          <p:cNvSpPr/>
          <p:nvPr/>
        </p:nvSpPr>
        <p:spPr>
          <a:xfrm>
            <a:off x="571500" y="2487066"/>
            <a:ext cx="495300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7" name="Google Shape;487;p32"/>
          <p:cNvSpPr txBox="1"/>
          <p:nvPr/>
        </p:nvSpPr>
        <p:spPr>
          <a:xfrm>
            <a:off x="571500" y="2972841"/>
            <a:ext cx="4953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Chuyển đổi bức ảnh thành một </a:t>
            </a:r>
            <a:r>
              <a:rPr lang="en-US" sz="1350" b="1" i="0" u="none" strike="noStrike" cap="none">
                <a:solidFill>
                  <a:srgbClr val="334155"/>
                </a:solidFill>
                <a:latin typeface="Open Sans"/>
                <a:ea typeface="Open Sans"/>
                <a:cs typeface="Open Sans"/>
                <a:sym typeface="Open Sans"/>
              </a:rPr>
              <a:t>Face Embedding</a:t>
            </a:r>
            <a:r>
              <a:rPr lang="en-US" sz="1350" b="0" i="0" u="none" strike="noStrike" cap="none">
                <a:solidFill>
                  <a:srgbClr val="334155"/>
                </a:solidFill>
                <a:latin typeface="Open Sans"/>
                <a:ea typeface="Open Sans"/>
                <a:cs typeface="Open Sans"/>
                <a:sym typeface="Open Sans"/>
              </a:rPr>
              <a:t> (Vector 512 chiều).</a:t>
            </a:r>
            <a:endParaRPr/>
          </a:p>
        </p:txBody>
      </p:sp>
      <p:pic>
        <p:nvPicPr>
          <p:cNvPr id="488" name="Google Shape;488;p32" descr="image.png"/>
          <p:cNvPicPr preferRelativeResize="0"/>
          <p:nvPr/>
        </p:nvPicPr>
        <p:blipFill rotWithShape="1">
          <a:blip r:embed="rId5">
            <a:alphaModFix/>
          </a:blip>
          <a:srcRect/>
          <a:stretch/>
        </p:blipFill>
        <p:spPr>
          <a:xfrm>
            <a:off x="6686552" y="762000"/>
            <a:ext cx="5505448" cy="6096000"/>
          </a:xfrm>
          <a:prstGeom prst="rect">
            <a:avLst/>
          </a:prstGeom>
          <a:noFill/>
          <a:ln>
            <a:noFill/>
          </a:ln>
        </p:spPr>
      </p:pic>
      <p:sp>
        <p:nvSpPr>
          <p:cNvPr id="489" name="Google Shape;489;p32"/>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492" name="Google Shape;492;p32"/>
          <p:cNvSpPr txBox="1"/>
          <p:nvPr/>
        </p:nvSpPr>
        <p:spPr>
          <a:xfrm>
            <a:off x="952500" y="3692872"/>
            <a:ext cx="4572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Vector này là "dấu vân tay số" của khuôn mặt.</a:t>
            </a:r>
            <a:endParaRPr/>
          </a:p>
        </p:txBody>
      </p:sp>
      <p:sp>
        <p:nvSpPr>
          <p:cNvPr id="493" name="Google Shape;493;p32"/>
          <p:cNvSpPr txBox="1"/>
          <p:nvPr/>
        </p:nvSpPr>
        <p:spPr>
          <a:xfrm>
            <a:off x="952500" y="4205287"/>
            <a:ext cx="4572000" cy="82287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Không gian đặc trưng được tối ưu để: </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334155"/>
                </a:solidFill>
                <a:latin typeface="Open Sans"/>
                <a:ea typeface="Open Sans"/>
                <a:cs typeface="Open Sans"/>
                <a:sym typeface="Open Sans"/>
              </a:rPr>
              <a:t> - Các vector của CÙNG 1 người nằm sát nhau. </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334155"/>
                </a:solidFill>
                <a:latin typeface="Open Sans"/>
                <a:ea typeface="Open Sans"/>
                <a:cs typeface="Open Sans"/>
                <a:sym typeface="Open Sans"/>
              </a:rPr>
              <a:t> - Các vector KHÁC người bị đẩy ra xa nhau.</a:t>
            </a:r>
            <a:endParaRPr/>
          </a:p>
        </p:txBody>
      </p:sp>
      <p:pic>
        <p:nvPicPr>
          <p:cNvPr id="5" name="Picture 4" descr="Thông báo">
            <a:extLst>
              <a:ext uri="{FF2B5EF4-FFF2-40B4-BE49-F238E27FC236}">
                <a16:creationId xmlns:a16="http://schemas.microsoft.com/office/drawing/2014/main" id="{8D85A0A6-744B-AABA-9EC9-F65D23A82AA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7"/>
        <p:cNvGrpSpPr/>
        <p:nvPr/>
      </p:nvGrpSpPr>
      <p:grpSpPr>
        <a:xfrm>
          <a:off x="0" y="0"/>
          <a:ext cx="0" cy="0"/>
          <a:chOff x="0" y="0"/>
          <a:chExt cx="0" cy="0"/>
        </a:xfrm>
      </p:grpSpPr>
      <p:pic>
        <p:nvPicPr>
          <p:cNvPr id="498" name="Google Shape;498;p33"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499" name="Google Shape;499;p33" descr="image.png"/>
          <p:cNvPicPr preferRelativeResize="0"/>
          <p:nvPr/>
        </p:nvPicPr>
        <p:blipFill rotWithShape="1">
          <a:blip r:embed="rId4">
            <a:alphaModFix/>
          </a:blip>
          <a:srcRect/>
          <a:stretch/>
        </p:blipFill>
        <p:spPr>
          <a:xfrm>
            <a:off x="571500" y="1971675"/>
            <a:ext cx="5286375" cy="4505325"/>
          </a:xfrm>
          <a:prstGeom prst="rect">
            <a:avLst/>
          </a:prstGeom>
          <a:noFill/>
          <a:ln>
            <a:noFill/>
          </a:ln>
        </p:spPr>
      </p:pic>
      <p:pic>
        <p:nvPicPr>
          <p:cNvPr id="500" name="Google Shape;500;p33" descr="image.png"/>
          <p:cNvPicPr preferRelativeResize="0"/>
          <p:nvPr/>
        </p:nvPicPr>
        <p:blipFill rotWithShape="1">
          <a:blip r:embed="rId4">
            <a:alphaModFix/>
          </a:blip>
          <a:srcRect/>
          <a:stretch/>
        </p:blipFill>
        <p:spPr>
          <a:xfrm>
            <a:off x="6334125" y="1971675"/>
            <a:ext cx="5286375" cy="4505325"/>
          </a:xfrm>
          <a:prstGeom prst="rect">
            <a:avLst/>
          </a:prstGeom>
          <a:noFill/>
          <a:ln>
            <a:noFill/>
          </a:ln>
        </p:spPr>
      </p:pic>
      <p:pic>
        <p:nvPicPr>
          <p:cNvPr id="501" name="Google Shape;501;p33"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502" name="Google Shape;502;p33"/>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3" name="Google Shape;503;p33"/>
          <p:cNvSpPr txBox="1"/>
          <p:nvPr/>
        </p:nvSpPr>
        <p:spPr>
          <a:xfrm>
            <a:off x="3990975" y="242887"/>
            <a:ext cx="257032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3. MÔ HÌNH</a:t>
            </a:r>
            <a:endParaRPr/>
          </a:p>
        </p:txBody>
      </p:sp>
      <p:sp>
        <p:nvSpPr>
          <p:cNvPr id="504" name="Google Shape;504;p33"/>
          <p:cNvSpPr txBox="1"/>
          <p:nvPr/>
        </p:nvSpPr>
        <p:spPr>
          <a:xfrm>
            <a:off x="571500" y="1143000"/>
            <a:ext cx="4090511"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Backbone: ResNet-50</a:t>
            </a:r>
            <a:endParaRPr/>
          </a:p>
        </p:txBody>
      </p:sp>
      <p:sp>
        <p:nvSpPr>
          <p:cNvPr id="505" name="Google Shape;505;p33"/>
          <p:cNvSpPr/>
          <p:nvPr/>
        </p:nvSpPr>
        <p:spPr>
          <a:xfrm>
            <a:off x="571500" y="1657350"/>
            <a:ext cx="38957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6" name="Google Shape;506;p33"/>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507" name="Google Shape;507;p33"/>
          <p:cNvSpPr txBox="1"/>
          <p:nvPr/>
        </p:nvSpPr>
        <p:spPr>
          <a:xfrm>
            <a:off x="495300" y="214312"/>
            <a:ext cx="381000" cy="17145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350" b="1" i="0" u="none" strike="noStrike" cap="none">
                <a:solidFill>
                  <a:srgbClr val="FFFFFF"/>
                </a:solidFill>
                <a:latin typeface="Montserrat"/>
                <a:ea typeface="Montserrat"/>
                <a:cs typeface="Montserrat"/>
                <a:sym typeface="Montserrat"/>
              </a:rPr>
              <a:t>BAV</a:t>
            </a:r>
            <a:endParaRPr/>
          </a:p>
        </p:txBody>
      </p:sp>
      <p:sp>
        <p:nvSpPr>
          <p:cNvPr id="508" name="Google Shape;508;p33"/>
          <p:cNvSpPr txBox="1"/>
          <p:nvPr/>
        </p:nvSpPr>
        <p:spPr>
          <a:xfrm>
            <a:off x="561975" y="404812"/>
            <a:ext cx="2476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F59E0B"/>
                </a:solidFill>
                <a:latin typeface="Montserrat"/>
                <a:ea typeface="Montserrat"/>
                <a:cs typeface="Montserrat"/>
                <a:sym typeface="Montserrat"/>
              </a:rPr>
              <a:t>1961</a:t>
            </a:r>
            <a:endParaRPr/>
          </a:p>
        </p:txBody>
      </p:sp>
      <p:sp>
        <p:nvSpPr>
          <p:cNvPr id="509" name="Google Shape;509;p33"/>
          <p:cNvSpPr txBox="1"/>
          <p:nvPr/>
        </p:nvSpPr>
        <p:spPr>
          <a:xfrm>
            <a:off x="904875" y="2257425"/>
            <a:ext cx="490061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Residual Block</a:t>
            </a:r>
            <a:endParaRPr/>
          </a:p>
        </p:txBody>
      </p:sp>
      <p:sp>
        <p:nvSpPr>
          <p:cNvPr id="510" name="Google Shape;510;p33"/>
          <p:cNvSpPr txBox="1"/>
          <p:nvPr/>
        </p:nvSpPr>
        <p:spPr>
          <a:xfrm>
            <a:off x="904875" y="2705100"/>
            <a:ext cx="466725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Sử dụng cơ chế "kết nối tắt" (skip-connection). Thay vì học ánh xạ H(x) trực tiếp, mạng học phần dư F(x) = H(x) - x, giải quyết vấn đề mất mát đạo hàm (vanishing gradient) ở mạng sâu.</a:t>
            </a:r>
            <a:endParaRPr/>
          </a:p>
        </p:txBody>
      </p:sp>
      <p:sp>
        <p:nvSpPr>
          <p:cNvPr id="511" name="Google Shape;511;p33"/>
          <p:cNvSpPr txBox="1"/>
          <p:nvPr/>
        </p:nvSpPr>
        <p:spPr>
          <a:xfrm>
            <a:off x="6667500" y="2257425"/>
            <a:ext cx="4900612"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Kiến trúc ResNet</a:t>
            </a:r>
            <a:endParaRPr/>
          </a:p>
        </p:txBody>
      </p:sp>
      <p:sp>
        <p:nvSpPr>
          <p:cNvPr id="512" name="Google Shape;512;p33"/>
          <p:cNvSpPr txBox="1"/>
          <p:nvPr/>
        </p:nvSpPr>
        <p:spPr>
          <a:xfrm>
            <a:off x="6667500" y="2705100"/>
            <a:ext cx="4667250" cy="10971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Biến thể cải tiến chuyên dụng cho nhận diện khuôn mặt, tối ưu Pooling và kết hợp Bottleneck block (tích chập 1x1, 3x3, 1x1) để giảm chi phí tính toán nhưng giữ nguyên độ sâu mạng.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6"/>
        <p:cNvGrpSpPr/>
        <p:nvPr/>
      </p:nvGrpSpPr>
      <p:grpSpPr>
        <a:xfrm>
          <a:off x="0" y="0"/>
          <a:ext cx="0" cy="0"/>
          <a:chOff x="0" y="0"/>
          <a:chExt cx="0" cy="0"/>
        </a:xfrm>
      </p:grpSpPr>
      <p:pic>
        <p:nvPicPr>
          <p:cNvPr id="517" name="Google Shape;517;p34"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518" name="Google Shape;518;p34" descr="image.png"/>
          <p:cNvPicPr preferRelativeResize="0"/>
          <p:nvPr/>
        </p:nvPicPr>
        <p:blipFill rotWithShape="1">
          <a:blip r:embed="rId4">
            <a:alphaModFix/>
          </a:blip>
          <a:srcRect/>
          <a:stretch/>
        </p:blipFill>
        <p:spPr>
          <a:xfrm>
            <a:off x="571500" y="3156495"/>
            <a:ext cx="5286375" cy="1058465"/>
          </a:xfrm>
          <a:prstGeom prst="rect">
            <a:avLst/>
          </a:prstGeom>
          <a:noFill/>
          <a:ln>
            <a:noFill/>
          </a:ln>
        </p:spPr>
      </p:pic>
      <p:pic>
        <p:nvPicPr>
          <p:cNvPr id="519" name="Google Shape;519;p34"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520" name="Google Shape;520;p34"/>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1" name="Google Shape;521;p34"/>
          <p:cNvSpPr txBox="1"/>
          <p:nvPr/>
        </p:nvSpPr>
        <p:spPr>
          <a:xfrm>
            <a:off x="3990975" y="242887"/>
            <a:ext cx="257032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3. MÔ HÌNH</a:t>
            </a:r>
            <a:endParaRPr/>
          </a:p>
        </p:txBody>
      </p:sp>
      <p:sp>
        <p:nvSpPr>
          <p:cNvPr id="522" name="Google Shape;522;p34"/>
          <p:cNvSpPr txBox="1"/>
          <p:nvPr/>
        </p:nvSpPr>
        <p:spPr>
          <a:xfrm>
            <a:off x="571500" y="1143000"/>
            <a:ext cx="3140392"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L2 Normalization</a:t>
            </a:r>
            <a:endParaRPr/>
          </a:p>
        </p:txBody>
      </p:sp>
      <p:sp>
        <p:nvSpPr>
          <p:cNvPr id="523" name="Google Shape;523;p34"/>
          <p:cNvSpPr/>
          <p:nvPr/>
        </p:nvSpPr>
        <p:spPr>
          <a:xfrm>
            <a:off x="571500" y="1657350"/>
            <a:ext cx="29908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24" name="Google Shape;524;p34"/>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527" name="Google Shape;527;p34"/>
          <p:cNvSpPr txBox="1"/>
          <p:nvPr/>
        </p:nvSpPr>
        <p:spPr>
          <a:xfrm>
            <a:off x="571500" y="2143125"/>
            <a:ext cx="528637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Vector 512 chiều được sinh ra sẽ có độ lớn (magnitude) khác nhau phụ thuộc vào ảnh đầu vào. Để so sánh chuẩn xác, ta ép chúng về bề mặt của siêu cầu đơn vị.</a:t>
            </a:r>
            <a:endParaRPr/>
          </a:p>
        </p:txBody>
      </p:sp>
      <p:pic>
        <p:nvPicPr>
          <p:cNvPr id="528" name="Google Shape;528;p34" descr="image.png"/>
          <p:cNvPicPr preferRelativeResize="0"/>
          <p:nvPr/>
        </p:nvPicPr>
        <p:blipFill rotWithShape="1">
          <a:blip r:embed="rId6">
            <a:alphaModFix/>
          </a:blip>
          <a:srcRect/>
          <a:stretch/>
        </p:blipFill>
        <p:spPr>
          <a:xfrm>
            <a:off x="1028700" y="3563391"/>
            <a:ext cx="514350" cy="270569"/>
          </a:xfrm>
          <a:prstGeom prst="rect">
            <a:avLst/>
          </a:prstGeom>
          <a:noFill/>
          <a:ln>
            <a:noFill/>
          </a:ln>
        </p:spPr>
      </p:pic>
      <p:sp>
        <p:nvSpPr>
          <p:cNvPr id="529" name="Google Shape;529;p34"/>
          <p:cNvSpPr txBox="1"/>
          <p:nvPr/>
        </p:nvSpPr>
        <p:spPr>
          <a:xfrm>
            <a:off x="6715125" y="1971675"/>
            <a:ext cx="4905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Triệt tiêu độ lớn:</a:t>
            </a:r>
            <a:r>
              <a:rPr lang="en-US" sz="1350" b="0" i="0" u="none" strike="noStrike" cap="none">
                <a:solidFill>
                  <a:srgbClr val="334155"/>
                </a:solidFill>
                <a:latin typeface="Open Sans"/>
                <a:ea typeface="Open Sans"/>
                <a:cs typeface="Open Sans"/>
                <a:sym typeface="Open Sans"/>
              </a:rPr>
              <a:t> So sánh chỉ phụ thuộc vào "hướng" của vector.</a:t>
            </a:r>
            <a:endParaRPr/>
          </a:p>
        </p:txBody>
      </p:sp>
      <p:sp>
        <p:nvSpPr>
          <p:cNvPr id="530" name="Google Shape;530;p34"/>
          <p:cNvSpPr txBox="1"/>
          <p:nvPr/>
        </p:nvSpPr>
        <p:spPr>
          <a:xfrm>
            <a:off x="6715125" y="2758380"/>
            <a:ext cx="4905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Siêu cầu đơn vị:</a:t>
            </a:r>
            <a:r>
              <a:rPr lang="en-US" sz="1350" b="0" i="0" u="none" strike="noStrike" cap="none">
                <a:solidFill>
                  <a:srgbClr val="334155"/>
                </a:solidFill>
                <a:latin typeface="Open Sans"/>
                <a:ea typeface="Open Sans"/>
                <a:cs typeface="Open Sans"/>
                <a:sym typeface="Open Sans"/>
              </a:rPr>
              <a:t> Điều kiện bắt buộc để áp dụng hàm mất mát ArcFace.</a:t>
            </a:r>
            <a:endParaRPr/>
          </a:p>
        </p:txBody>
      </p:sp>
      <p:pic>
        <p:nvPicPr>
          <p:cNvPr id="531" name="Google Shape;531;p34" descr="image.png"/>
          <p:cNvPicPr preferRelativeResize="0"/>
          <p:nvPr/>
        </p:nvPicPr>
        <p:blipFill rotWithShape="1">
          <a:blip r:embed="rId7">
            <a:alphaModFix/>
          </a:blip>
          <a:srcRect/>
          <a:stretch/>
        </p:blipFill>
        <p:spPr>
          <a:xfrm>
            <a:off x="6334125" y="2014537"/>
            <a:ext cx="190500" cy="200025"/>
          </a:xfrm>
          <a:prstGeom prst="rect">
            <a:avLst/>
          </a:prstGeom>
          <a:noFill/>
          <a:ln>
            <a:noFill/>
          </a:ln>
        </p:spPr>
      </p:pic>
      <p:pic>
        <p:nvPicPr>
          <p:cNvPr id="532" name="Google Shape;532;p34" descr="image.png"/>
          <p:cNvPicPr preferRelativeResize="0"/>
          <p:nvPr/>
        </p:nvPicPr>
        <p:blipFill rotWithShape="1">
          <a:blip r:embed="rId7">
            <a:alphaModFix/>
          </a:blip>
          <a:srcRect/>
          <a:stretch/>
        </p:blipFill>
        <p:spPr>
          <a:xfrm>
            <a:off x="6334125" y="2801242"/>
            <a:ext cx="190500" cy="200025"/>
          </a:xfrm>
          <a:prstGeom prst="rect">
            <a:avLst/>
          </a:prstGeom>
          <a:noFill/>
          <a:ln>
            <a:noFill/>
          </a:ln>
        </p:spPr>
      </p:pic>
      <p:pic>
        <p:nvPicPr>
          <p:cNvPr id="3" name="Picture 2" descr="Thông báo">
            <a:extLst>
              <a:ext uri="{FF2B5EF4-FFF2-40B4-BE49-F238E27FC236}">
                <a16:creationId xmlns:a16="http://schemas.microsoft.com/office/drawing/2014/main" id="{26282DF9-353D-F839-00C2-977C3E5317E0}"/>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6"/>
        <p:cNvGrpSpPr/>
        <p:nvPr/>
      </p:nvGrpSpPr>
      <p:grpSpPr>
        <a:xfrm>
          <a:off x="0" y="0"/>
          <a:ext cx="0" cy="0"/>
          <a:chOff x="0" y="0"/>
          <a:chExt cx="0" cy="0"/>
        </a:xfrm>
      </p:grpSpPr>
      <p:pic>
        <p:nvPicPr>
          <p:cNvPr id="537" name="Google Shape;537;p35"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538" name="Google Shape;538;p35"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539" name="Google Shape;539;p35"/>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0" name="Google Shape;540;p35"/>
          <p:cNvSpPr txBox="1"/>
          <p:nvPr/>
        </p:nvSpPr>
        <p:spPr>
          <a:xfrm>
            <a:off x="3990975" y="242887"/>
            <a:ext cx="257032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3. MÔ HÌNH</a:t>
            </a:r>
            <a:endParaRPr/>
          </a:p>
        </p:txBody>
      </p:sp>
      <p:sp>
        <p:nvSpPr>
          <p:cNvPr id="541" name="Google Shape;541;p35"/>
          <p:cNvSpPr txBox="1"/>
          <p:nvPr/>
        </p:nvSpPr>
        <p:spPr>
          <a:xfrm>
            <a:off x="571500" y="1143000"/>
            <a:ext cx="4110513"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Hàm Mất Mát ArcFace</a:t>
            </a:r>
            <a:endParaRPr/>
          </a:p>
        </p:txBody>
      </p:sp>
      <p:sp>
        <p:nvSpPr>
          <p:cNvPr id="542" name="Google Shape;542;p35"/>
          <p:cNvSpPr/>
          <p:nvPr/>
        </p:nvSpPr>
        <p:spPr>
          <a:xfrm>
            <a:off x="571500" y="1657350"/>
            <a:ext cx="391477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3" name="Google Shape;543;p35"/>
          <p:cNvSpPr txBox="1"/>
          <p:nvPr/>
        </p:nvSpPr>
        <p:spPr>
          <a:xfrm>
            <a:off x="571500" y="2143125"/>
            <a:ext cx="11049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Softmax Loss truyền thống không tạo ranh giới rõ ràng. ArcFace (Additive Angular Margin Loss) bổ sung một "biên góc" (margin) m vào góc của lớp đúng.</a:t>
            </a:r>
            <a:endParaRPr/>
          </a:p>
        </p:txBody>
      </p:sp>
      <p:sp>
        <p:nvSpPr>
          <p:cNvPr id="544" name="Google Shape;544;p35"/>
          <p:cNvSpPr txBox="1"/>
          <p:nvPr/>
        </p:nvSpPr>
        <p:spPr>
          <a:xfrm>
            <a:off x="571500" y="4241452"/>
            <a:ext cx="10487025"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Ép các vector cùng ID tụ chặt lại (Intra-class compactness) và nới rộng khoảng cách giữa các ID khác nhau (Inter-class discrepancy).</a:t>
            </a:r>
            <a:endParaRPr/>
          </a:p>
        </p:txBody>
      </p:sp>
      <p:sp>
        <p:nvSpPr>
          <p:cNvPr id="545" name="Google Shape;545;p35"/>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pic>
        <p:nvPicPr>
          <p:cNvPr id="546" name="Google Shape;546;p35" descr="image.png"/>
          <p:cNvPicPr preferRelativeResize="0"/>
          <p:nvPr/>
        </p:nvPicPr>
        <p:blipFill rotWithShape="1">
          <a:blip r:embed="rId5">
            <a:alphaModFix/>
          </a:blip>
          <a:srcRect/>
          <a:stretch/>
        </p:blipFill>
        <p:spPr>
          <a:xfrm>
            <a:off x="4297263" y="3148905"/>
            <a:ext cx="3597324" cy="635347"/>
          </a:xfrm>
          <a:prstGeom prst="rect">
            <a:avLst/>
          </a:prstGeom>
          <a:noFill/>
          <a:ln>
            <a:noFill/>
          </a:ln>
        </p:spPr>
      </p:pic>
      <p:pic>
        <p:nvPicPr>
          <p:cNvPr id="3" name="Picture 2" descr="Thông báo">
            <a:extLst>
              <a:ext uri="{FF2B5EF4-FFF2-40B4-BE49-F238E27FC236}">
                <a16:creationId xmlns:a16="http://schemas.microsoft.com/office/drawing/2014/main" id="{E7BDEA1B-F6FA-135E-35A2-212A90F8DEA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2"/>
        <p:cNvGrpSpPr/>
        <p:nvPr/>
      </p:nvGrpSpPr>
      <p:grpSpPr>
        <a:xfrm>
          <a:off x="0" y="0"/>
          <a:ext cx="0" cy="0"/>
          <a:chOff x="0" y="0"/>
          <a:chExt cx="0" cy="0"/>
        </a:xfrm>
      </p:grpSpPr>
      <p:pic>
        <p:nvPicPr>
          <p:cNvPr id="553" name="Google Shape;553;p36"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554" name="Google Shape;554;p36" descr="image.png"/>
          <p:cNvPicPr preferRelativeResize="0"/>
          <p:nvPr/>
        </p:nvPicPr>
        <p:blipFill rotWithShape="1">
          <a:blip r:embed="rId4">
            <a:alphaModFix/>
          </a:blip>
          <a:srcRect/>
          <a:stretch/>
        </p:blipFill>
        <p:spPr>
          <a:xfrm>
            <a:off x="7786687" y="2715517"/>
            <a:ext cx="2381250" cy="2381250"/>
          </a:xfrm>
          <a:prstGeom prst="rect">
            <a:avLst/>
          </a:prstGeom>
          <a:noFill/>
          <a:ln>
            <a:noFill/>
          </a:ln>
        </p:spPr>
      </p:pic>
      <p:pic>
        <p:nvPicPr>
          <p:cNvPr id="555" name="Google Shape;555;p36" descr="image.png"/>
          <p:cNvPicPr preferRelativeResize="0"/>
          <p:nvPr/>
        </p:nvPicPr>
        <p:blipFill rotWithShape="1">
          <a:blip r:embed="rId5">
            <a:alphaModFix/>
          </a:blip>
          <a:srcRect/>
          <a:stretch/>
        </p:blipFill>
        <p:spPr>
          <a:xfrm>
            <a:off x="571500" y="4070895"/>
            <a:ext cx="5286375" cy="666750"/>
          </a:xfrm>
          <a:prstGeom prst="rect">
            <a:avLst/>
          </a:prstGeom>
          <a:noFill/>
          <a:ln>
            <a:noFill/>
          </a:ln>
        </p:spPr>
      </p:pic>
      <p:pic>
        <p:nvPicPr>
          <p:cNvPr id="556" name="Google Shape;556;p36" descr="image.png"/>
          <p:cNvPicPr preferRelativeResize="0"/>
          <p:nvPr/>
        </p:nvPicPr>
        <p:blipFill rotWithShape="1">
          <a:blip r:embed="rId6">
            <a:alphaModFix/>
          </a:blip>
          <a:srcRect/>
          <a:stretch/>
        </p:blipFill>
        <p:spPr>
          <a:xfrm>
            <a:off x="0" y="0"/>
            <a:ext cx="12192000" cy="762000"/>
          </a:xfrm>
          <a:prstGeom prst="rect">
            <a:avLst/>
          </a:prstGeom>
          <a:noFill/>
          <a:ln>
            <a:noFill/>
          </a:ln>
        </p:spPr>
      </p:pic>
      <p:sp>
        <p:nvSpPr>
          <p:cNvPr id="557" name="Google Shape;557;p36"/>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8" name="Google Shape;558;p36"/>
          <p:cNvSpPr txBox="1"/>
          <p:nvPr/>
        </p:nvSpPr>
        <p:spPr>
          <a:xfrm>
            <a:off x="3990975" y="242887"/>
            <a:ext cx="257032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3. MÔ HÌNH</a:t>
            </a:r>
            <a:endParaRPr/>
          </a:p>
        </p:txBody>
      </p:sp>
      <p:sp>
        <p:nvSpPr>
          <p:cNvPr id="559" name="Google Shape;559;p36"/>
          <p:cNvSpPr txBox="1"/>
          <p:nvPr/>
        </p:nvSpPr>
        <p:spPr>
          <a:xfrm>
            <a:off x="571500" y="1143000"/>
            <a:ext cx="5810726"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So Khớp Bằng Cosine Similarity</a:t>
            </a:r>
            <a:endParaRPr/>
          </a:p>
        </p:txBody>
      </p:sp>
      <p:sp>
        <p:nvSpPr>
          <p:cNvPr id="560" name="Google Shape;560;p36"/>
          <p:cNvSpPr/>
          <p:nvPr/>
        </p:nvSpPr>
        <p:spPr>
          <a:xfrm>
            <a:off x="571500" y="1657350"/>
            <a:ext cx="55340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1" name="Google Shape;561;p36"/>
          <p:cNvSpPr txBox="1"/>
          <p:nvPr/>
        </p:nvSpPr>
        <p:spPr>
          <a:xfrm>
            <a:off x="571500" y="6031259"/>
            <a:ext cx="1104900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Điểm ~ 1: Rất giống nhau (Cùng người) | Điểm ~ 0: Không liên quan</a:t>
            </a:r>
            <a:endParaRPr/>
          </a:p>
        </p:txBody>
      </p:sp>
      <p:sp>
        <p:nvSpPr>
          <p:cNvPr id="562" name="Google Shape;562;p36"/>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565" name="Google Shape;565;p36"/>
          <p:cNvSpPr txBox="1"/>
          <p:nvPr/>
        </p:nvSpPr>
        <p:spPr>
          <a:xfrm>
            <a:off x="571500" y="2884140"/>
            <a:ext cx="555069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Đo Góc Chênh Lệch</a:t>
            </a:r>
            <a:endParaRPr/>
          </a:p>
        </p:txBody>
      </p:sp>
      <p:sp>
        <p:nvSpPr>
          <p:cNvPr id="566" name="Google Shape;566;p36"/>
          <p:cNvSpPr txBox="1"/>
          <p:nvPr/>
        </p:nvSpPr>
        <p:spPr>
          <a:xfrm>
            <a:off x="571500" y="3331815"/>
            <a:ext cx="5286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Khi vector đã chuẩn hóa L2, độ tương đồng chính là Tích Vô Hướng (Dot Product) của 2 vector.</a:t>
            </a:r>
            <a:endParaRPr/>
          </a:p>
        </p:txBody>
      </p:sp>
      <p:sp>
        <p:nvSpPr>
          <p:cNvPr id="567" name="Google Shape;567;p36"/>
          <p:cNvSpPr txBox="1"/>
          <p:nvPr/>
        </p:nvSpPr>
        <p:spPr>
          <a:xfrm>
            <a:off x="8167687" y="3410842"/>
            <a:ext cx="1619250" cy="666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5250" b="1" i="0" u="none" strike="noStrike" cap="none">
                <a:solidFill>
                  <a:srgbClr val="F59E0B"/>
                </a:solidFill>
                <a:latin typeface="Montserrat"/>
                <a:ea typeface="Montserrat"/>
                <a:cs typeface="Montserrat"/>
                <a:sym typeface="Montserrat"/>
              </a:rPr>
              <a:t>[-1, 1]</a:t>
            </a:r>
            <a:endParaRPr/>
          </a:p>
        </p:txBody>
      </p:sp>
      <p:sp>
        <p:nvSpPr>
          <p:cNvPr id="568" name="Google Shape;568;p36"/>
          <p:cNvSpPr txBox="1"/>
          <p:nvPr/>
        </p:nvSpPr>
        <p:spPr>
          <a:xfrm>
            <a:off x="8167687" y="4172842"/>
            <a:ext cx="1619250" cy="2286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FFFFFF"/>
                </a:solidFill>
                <a:latin typeface="Open Sans"/>
                <a:ea typeface="Open Sans"/>
                <a:cs typeface="Open Sans"/>
                <a:sym typeface="Open Sans"/>
              </a:rPr>
              <a:t>Miền Giá Trị</a:t>
            </a:r>
            <a:endParaRPr/>
          </a:p>
        </p:txBody>
      </p:sp>
      <p:pic>
        <p:nvPicPr>
          <p:cNvPr id="569" name="Google Shape;569;p36" descr="image.png"/>
          <p:cNvPicPr preferRelativeResize="0"/>
          <p:nvPr/>
        </p:nvPicPr>
        <p:blipFill rotWithShape="1">
          <a:blip r:embed="rId7">
            <a:alphaModFix/>
          </a:blip>
          <a:srcRect/>
          <a:stretch/>
        </p:blipFill>
        <p:spPr>
          <a:xfrm>
            <a:off x="838200" y="4298602"/>
            <a:ext cx="1987897" cy="239017"/>
          </a:xfrm>
          <a:prstGeom prst="rect">
            <a:avLst/>
          </a:prstGeom>
          <a:noFill/>
          <a:ln>
            <a:noFill/>
          </a:ln>
        </p:spPr>
      </p:pic>
      <p:pic>
        <p:nvPicPr>
          <p:cNvPr id="3" name="Picture 2" descr="Thông báo">
            <a:extLst>
              <a:ext uri="{FF2B5EF4-FFF2-40B4-BE49-F238E27FC236}">
                <a16:creationId xmlns:a16="http://schemas.microsoft.com/office/drawing/2014/main" id="{03693C62-F84C-34EB-7EAC-C70A70960BCD}"/>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3"/>
        <p:cNvGrpSpPr/>
        <p:nvPr/>
      </p:nvGrpSpPr>
      <p:grpSpPr>
        <a:xfrm>
          <a:off x="0" y="0"/>
          <a:ext cx="0" cy="0"/>
          <a:chOff x="0" y="0"/>
          <a:chExt cx="0" cy="0"/>
        </a:xfrm>
      </p:grpSpPr>
      <p:pic>
        <p:nvPicPr>
          <p:cNvPr id="574" name="Google Shape;574;p37"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575" name="Google Shape;575;p37"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576" name="Google Shape;576;p37"/>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7" name="Google Shape;577;p37"/>
          <p:cNvSpPr txBox="1"/>
          <p:nvPr/>
        </p:nvSpPr>
        <p:spPr>
          <a:xfrm>
            <a:off x="3990975" y="242887"/>
            <a:ext cx="257032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3. MÔ HÌNH</a:t>
            </a:r>
            <a:endParaRPr/>
          </a:p>
        </p:txBody>
      </p:sp>
      <p:sp>
        <p:nvSpPr>
          <p:cNvPr id="578" name="Google Shape;578;p37"/>
          <p:cNvSpPr txBox="1"/>
          <p:nvPr/>
        </p:nvSpPr>
        <p:spPr>
          <a:xfrm>
            <a:off x="571500" y="1143000"/>
            <a:ext cx="7810976"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Cấu Hình Huấn Luyện (Hyper-parameters)</a:t>
            </a:r>
            <a:endParaRPr/>
          </a:p>
        </p:txBody>
      </p:sp>
      <p:sp>
        <p:nvSpPr>
          <p:cNvPr id="579" name="Google Shape;579;p37"/>
          <p:cNvSpPr/>
          <p:nvPr/>
        </p:nvSpPr>
        <p:spPr>
          <a:xfrm>
            <a:off x="571500" y="1657350"/>
            <a:ext cx="74390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580" name="Google Shape;580;p37"/>
          <p:cNvGraphicFramePr/>
          <p:nvPr/>
        </p:nvGraphicFramePr>
        <p:xfrm>
          <a:off x="571500" y="2066925"/>
          <a:ext cx="11049000" cy="3386850"/>
        </p:xfrm>
        <a:graphic>
          <a:graphicData uri="http://schemas.openxmlformats.org/drawingml/2006/table">
            <a:tbl>
              <a:tblPr firstRow="1" bandRow="1">
                <a:noFill/>
                <a:tableStyleId>{058DF0C4-FC9D-46FB-A0C7-711C2C6CB1AF}</a:tableStyleId>
              </a:tblPr>
              <a:tblGrid>
                <a:gridCol w="276225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143375">
                  <a:extLst>
                    <a:ext uri="{9D8B030D-6E8A-4147-A177-3AD203B41FA5}">
                      <a16:colId xmlns:a16="http://schemas.microsoft.com/office/drawing/2014/main" val="20002"/>
                    </a:ext>
                  </a:extLst>
                </a:gridCol>
              </a:tblGrid>
              <a:tr h="564475">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Siêu tham số</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Pre-training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Fine-tuning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extLst>
                  <a:ext uri="{0D108BD9-81ED-4DB2-BD59-A6C34878D82A}">
                    <a16:rowId xmlns:a16="http://schemas.microsoft.com/office/drawing/2014/main" val="10000"/>
                  </a:ext>
                </a:extLst>
              </a:tr>
              <a:tr h="564475">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Kích thước đầu vào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112×112 px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112×112 px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4475">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Optimizer &amp; Loss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AdamW, ArcFace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AdamW, ArcFace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64475">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Base Learning Rate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10⁻⁴</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10⁻⁵ (Backbone) / 10⁻⁴ (Head)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4475">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Chiến lược LR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Warm-up (5 ep) + Cosine Decay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Warm-up (2 ep) + Cosine Decay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564475">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ArcFace Margin (m)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0.5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0.3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581" name="Google Shape;581;p37"/>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582" name="Google Shape;582;p37"/>
          <p:cNvSpPr/>
          <p:nvPr/>
        </p:nvSpPr>
        <p:spPr>
          <a:xfrm>
            <a:off x="571500" y="2591692"/>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3" name="Google Shape;583;p37"/>
          <p:cNvSpPr/>
          <p:nvPr/>
        </p:nvSpPr>
        <p:spPr>
          <a:xfrm>
            <a:off x="3333750" y="2591692"/>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4" name="Google Shape;584;p37"/>
          <p:cNvSpPr/>
          <p:nvPr/>
        </p:nvSpPr>
        <p:spPr>
          <a:xfrm>
            <a:off x="7477125" y="2591692"/>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7" name="Google Shape;587;p37"/>
          <p:cNvSpPr/>
          <p:nvPr/>
        </p:nvSpPr>
        <p:spPr>
          <a:xfrm>
            <a:off x="571500" y="3161258"/>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8" name="Google Shape;588;p37"/>
          <p:cNvSpPr/>
          <p:nvPr/>
        </p:nvSpPr>
        <p:spPr>
          <a:xfrm>
            <a:off x="3333750" y="3161258"/>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9" name="Google Shape;589;p37"/>
          <p:cNvSpPr/>
          <p:nvPr/>
        </p:nvSpPr>
        <p:spPr>
          <a:xfrm>
            <a:off x="7477125" y="3161258"/>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0" name="Google Shape;590;p37"/>
          <p:cNvSpPr/>
          <p:nvPr/>
        </p:nvSpPr>
        <p:spPr>
          <a:xfrm>
            <a:off x="571500" y="3730823"/>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1" name="Google Shape;591;p37"/>
          <p:cNvSpPr/>
          <p:nvPr/>
        </p:nvSpPr>
        <p:spPr>
          <a:xfrm>
            <a:off x="3333750" y="3730823"/>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2" name="Google Shape;592;p37"/>
          <p:cNvSpPr/>
          <p:nvPr/>
        </p:nvSpPr>
        <p:spPr>
          <a:xfrm>
            <a:off x="7477125" y="3730823"/>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3" name="Google Shape;593;p37"/>
          <p:cNvSpPr/>
          <p:nvPr/>
        </p:nvSpPr>
        <p:spPr>
          <a:xfrm>
            <a:off x="571500" y="4300388"/>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4" name="Google Shape;594;p37"/>
          <p:cNvSpPr/>
          <p:nvPr/>
        </p:nvSpPr>
        <p:spPr>
          <a:xfrm>
            <a:off x="3333750" y="4300388"/>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5" name="Google Shape;595;p37"/>
          <p:cNvSpPr/>
          <p:nvPr/>
        </p:nvSpPr>
        <p:spPr>
          <a:xfrm>
            <a:off x="7477125" y="4300388"/>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6" name="Google Shape;596;p37"/>
          <p:cNvSpPr/>
          <p:nvPr/>
        </p:nvSpPr>
        <p:spPr>
          <a:xfrm>
            <a:off x="571500" y="4869953"/>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7" name="Google Shape;597;p37"/>
          <p:cNvSpPr/>
          <p:nvPr/>
        </p:nvSpPr>
        <p:spPr>
          <a:xfrm>
            <a:off x="3333750" y="4869953"/>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8" name="Google Shape;598;p37"/>
          <p:cNvSpPr/>
          <p:nvPr/>
        </p:nvSpPr>
        <p:spPr>
          <a:xfrm>
            <a:off x="7477125" y="4869953"/>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9" name="Google Shape;599;p37"/>
          <p:cNvSpPr/>
          <p:nvPr/>
        </p:nvSpPr>
        <p:spPr>
          <a:xfrm>
            <a:off x="571500" y="5439519"/>
            <a:ext cx="276225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0" name="Google Shape;600;p37"/>
          <p:cNvSpPr/>
          <p:nvPr/>
        </p:nvSpPr>
        <p:spPr>
          <a:xfrm>
            <a:off x="3333750" y="5439519"/>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1" name="Google Shape;601;p37"/>
          <p:cNvSpPr/>
          <p:nvPr/>
        </p:nvSpPr>
        <p:spPr>
          <a:xfrm>
            <a:off x="7477125" y="5439519"/>
            <a:ext cx="4143375"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Thông báo">
            <a:extLst>
              <a:ext uri="{FF2B5EF4-FFF2-40B4-BE49-F238E27FC236}">
                <a16:creationId xmlns:a16="http://schemas.microsoft.com/office/drawing/2014/main" id="{60E61669-67AF-5005-87CD-B9BFC28DE12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5"/>
        <p:cNvGrpSpPr/>
        <p:nvPr/>
      </p:nvGrpSpPr>
      <p:grpSpPr>
        <a:xfrm>
          <a:off x="0" y="0"/>
          <a:ext cx="0" cy="0"/>
          <a:chOff x="0" y="0"/>
          <a:chExt cx="0" cy="0"/>
        </a:xfrm>
      </p:grpSpPr>
      <p:pic>
        <p:nvPicPr>
          <p:cNvPr id="606" name="Google Shape;606;p38" descr="image.png"/>
          <p:cNvPicPr preferRelativeResize="0"/>
          <p:nvPr/>
        </p:nvPicPr>
        <p:blipFill rotWithShape="1">
          <a:blip r:embed="rId3">
            <a:alphaModFix/>
          </a:blip>
          <a:srcRect/>
          <a:stretch/>
        </p:blipFill>
        <p:spPr>
          <a:xfrm>
            <a:off x="0" y="762000"/>
            <a:ext cx="12192000" cy="6096000"/>
          </a:xfrm>
          <a:prstGeom prst="rect">
            <a:avLst/>
          </a:prstGeom>
          <a:noFill/>
          <a:ln>
            <a:noFill/>
          </a:ln>
        </p:spPr>
      </p:pic>
      <p:pic>
        <p:nvPicPr>
          <p:cNvPr id="607" name="Google Shape;607;p38" descr="image.png"/>
          <p:cNvPicPr preferRelativeResize="0"/>
          <p:nvPr/>
        </p:nvPicPr>
        <p:blipFill rotWithShape="1">
          <a:blip r:embed="rId4">
            <a:alphaModFix/>
          </a:blip>
          <a:srcRect/>
          <a:stretch/>
        </p:blipFill>
        <p:spPr>
          <a:xfrm>
            <a:off x="381000" y="147637"/>
            <a:ext cx="609600" cy="466725"/>
          </a:xfrm>
          <a:prstGeom prst="rect">
            <a:avLst/>
          </a:prstGeom>
          <a:noFill/>
          <a:ln>
            <a:noFill/>
          </a:ln>
        </p:spPr>
      </p:pic>
      <p:pic>
        <p:nvPicPr>
          <p:cNvPr id="608" name="Google Shape;608;p38" descr="image.png"/>
          <p:cNvPicPr preferRelativeResize="0"/>
          <p:nvPr/>
        </p:nvPicPr>
        <p:blipFill rotWithShape="1">
          <a:blip r:embed="rId5">
            <a:alphaModFix/>
          </a:blip>
          <a:srcRect/>
          <a:stretch/>
        </p:blipFill>
        <p:spPr>
          <a:xfrm>
            <a:off x="0" y="0"/>
            <a:ext cx="12192000" cy="762000"/>
          </a:xfrm>
          <a:prstGeom prst="rect">
            <a:avLst/>
          </a:prstGeom>
          <a:noFill/>
          <a:ln>
            <a:noFill/>
          </a:ln>
        </p:spPr>
      </p:pic>
      <p:sp>
        <p:nvSpPr>
          <p:cNvPr id="609" name="Google Shape;609;p38"/>
          <p:cNvSpPr txBox="1"/>
          <p:nvPr/>
        </p:nvSpPr>
        <p:spPr>
          <a:xfrm>
            <a:off x="1247775" y="2901255"/>
            <a:ext cx="10181272" cy="581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750" b="1" i="0" u="none" strike="noStrike" cap="none">
                <a:solidFill>
                  <a:srgbClr val="1E3A8A"/>
                </a:solidFill>
                <a:latin typeface="Montserrat"/>
                <a:ea typeface="Montserrat"/>
                <a:cs typeface="Montserrat"/>
                <a:sym typeface="Montserrat"/>
              </a:rPr>
              <a:t>CHƯƠNG 4: THỰC NGHIỆM &amp; ĐÁNH GIÁ</a:t>
            </a:r>
            <a:endParaRPr/>
          </a:p>
        </p:txBody>
      </p:sp>
      <p:sp>
        <p:nvSpPr>
          <p:cNvPr id="610" name="Google Shape;610;p38"/>
          <p:cNvSpPr/>
          <p:nvPr/>
        </p:nvSpPr>
        <p:spPr>
          <a:xfrm>
            <a:off x="5619750" y="3768030"/>
            <a:ext cx="952500" cy="4762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1" name="Google Shape;611;p38"/>
          <p:cNvSpPr txBox="1"/>
          <p:nvPr/>
        </p:nvSpPr>
        <p:spPr>
          <a:xfrm>
            <a:off x="3881437" y="4272855"/>
            <a:ext cx="442912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Kết Quả Mô Hình, Kiến Trúc Hệ Thống &amp; Demo Thực Tế</a:t>
            </a:r>
            <a:endParaRPr/>
          </a:p>
        </p:txBody>
      </p:sp>
      <p:sp>
        <p:nvSpPr>
          <p:cNvPr id="612" name="Google Shape;612;p38"/>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pic>
        <p:nvPicPr>
          <p:cNvPr id="3" name="Picture 2" descr="Thông báo">
            <a:extLst>
              <a:ext uri="{FF2B5EF4-FFF2-40B4-BE49-F238E27FC236}">
                <a16:creationId xmlns:a16="http://schemas.microsoft.com/office/drawing/2014/main" id="{1DED56D7-54F8-87EC-18A7-CA8D26B7578D}"/>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8"/>
        <p:cNvGrpSpPr/>
        <p:nvPr/>
      </p:nvGrpSpPr>
      <p:grpSpPr>
        <a:xfrm>
          <a:off x="0" y="0"/>
          <a:ext cx="0" cy="0"/>
          <a:chOff x="0" y="0"/>
          <a:chExt cx="0" cy="0"/>
        </a:xfrm>
      </p:grpSpPr>
      <p:pic>
        <p:nvPicPr>
          <p:cNvPr id="619" name="Google Shape;619;p39"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620" name="Google Shape;620;p39" descr="image.png"/>
          <p:cNvPicPr preferRelativeResize="0"/>
          <p:nvPr/>
        </p:nvPicPr>
        <p:blipFill rotWithShape="1">
          <a:blip r:embed="rId4">
            <a:alphaModFix/>
          </a:blip>
          <a:srcRect/>
          <a:stretch/>
        </p:blipFill>
        <p:spPr>
          <a:xfrm>
            <a:off x="571500" y="1971675"/>
            <a:ext cx="3492549" cy="3059310"/>
          </a:xfrm>
          <a:prstGeom prst="rect">
            <a:avLst/>
          </a:prstGeom>
          <a:noFill/>
          <a:ln>
            <a:noFill/>
          </a:ln>
        </p:spPr>
      </p:pic>
      <p:pic>
        <p:nvPicPr>
          <p:cNvPr id="621" name="Google Shape;621;p39" descr="image.png"/>
          <p:cNvPicPr preferRelativeResize="0"/>
          <p:nvPr/>
        </p:nvPicPr>
        <p:blipFill rotWithShape="1">
          <a:blip r:embed="rId5">
            <a:alphaModFix/>
          </a:blip>
          <a:srcRect/>
          <a:stretch/>
        </p:blipFill>
        <p:spPr>
          <a:xfrm>
            <a:off x="4349799" y="1971675"/>
            <a:ext cx="3492549" cy="3059310"/>
          </a:xfrm>
          <a:prstGeom prst="rect">
            <a:avLst/>
          </a:prstGeom>
          <a:noFill/>
          <a:ln>
            <a:noFill/>
          </a:ln>
        </p:spPr>
      </p:pic>
      <p:pic>
        <p:nvPicPr>
          <p:cNvPr id="622" name="Google Shape;622;p39" descr="image.png"/>
          <p:cNvPicPr preferRelativeResize="0"/>
          <p:nvPr/>
        </p:nvPicPr>
        <p:blipFill rotWithShape="1">
          <a:blip r:embed="rId6">
            <a:alphaModFix/>
          </a:blip>
          <a:srcRect/>
          <a:stretch/>
        </p:blipFill>
        <p:spPr>
          <a:xfrm>
            <a:off x="8128099" y="1971675"/>
            <a:ext cx="3492549" cy="3059310"/>
          </a:xfrm>
          <a:prstGeom prst="rect">
            <a:avLst/>
          </a:prstGeom>
          <a:noFill/>
          <a:ln>
            <a:noFill/>
          </a:ln>
        </p:spPr>
      </p:pic>
      <p:pic>
        <p:nvPicPr>
          <p:cNvPr id="623" name="Google Shape;623;p39" descr="image.png"/>
          <p:cNvPicPr preferRelativeResize="0"/>
          <p:nvPr/>
        </p:nvPicPr>
        <p:blipFill rotWithShape="1">
          <a:blip r:embed="rId7">
            <a:alphaModFix/>
          </a:blip>
          <a:srcRect/>
          <a:stretch/>
        </p:blipFill>
        <p:spPr>
          <a:xfrm>
            <a:off x="0" y="0"/>
            <a:ext cx="12192000" cy="762000"/>
          </a:xfrm>
          <a:prstGeom prst="rect">
            <a:avLst/>
          </a:prstGeom>
          <a:noFill/>
          <a:ln>
            <a:noFill/>
          </a:ln>
        </p:spPr>
      </p:pic>
      <p:sp>
        <p:nvSpPr>
          <p:cNvPr id="624" name="Google Shape;624;p39"/>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5" name="Google Shape;625;p39"/>
          <p:cNvSpPr txBox="1"/>
          <p:nvPr/>
        </p:nvSpPr>
        <p:spPr>
          <a:xfrm>
            <a:off x="3990975" y="242887"/>
            <a:ext cx="272034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4. ĐÁNH GIÁ</a:t>
            </a:r>
            <a:endParaRPr/>
          </a:p>
        </p:txBody>
      </p:sp>
      <p:sp>
        <p:nvSpPr>
          <p:cNvPr id="626" name="Google Shape;626;p39"/>
          <p:cNvSpPr txBox="1"/>
          <p:nvPr/>
        </p:nvSpPr>
        <p:spPr>
          <a:xfrm>
            <a:off x="571500" y="1143000"/>
            <a:ext cx="3770471"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Các Độ Đo Đánh Giá</a:t>
            </a:r>
            <a:endParaRPr/>
          </a:p>
        </p:txBody>
      </p:sp>
      <p:sp>
        <p:nvSpPr>
          <p:cNvPr id="627" name="Google Shape;627;p39"/>
          <p:cNvSpPr/>
          <p:nvPr/>
        </p:nvSpPr>
        <p:spPr>
          <a:xfrm>
            <a:off x="571500" y="1657350"/>
            <a:ext cx="35909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8" name="Google Shape;628;p39"/>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631" name="Google Shape;631;p39"/>
          <p:cNvSpPr txBox="1"/>
          <p:nvPr/>
        </p:nvSpPr>
        <p:spPr>
          <a:xfrm>
            <a:off x="6942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Confusion Matrix</a:t>
            </a:r>
            <a:endParaRPr/>
          </a:p>
        </p:txBody>
      </p:sp>
      <p:sp>
        <p:nvSpPr>
          <p:cNvPr id="632" name="Google Shape;632;p39"/>
          <p:cNvSpPr txBox="1"/>
          <p:nvPr/>
        </p:nvSpPr>
        <p:spPr>
          <a:xfrm>
            <a:off x="771525"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Sử dụng Accuracy, Precision, Recall và F1-Score để đo độ chính xác nhận diện tổng thể.</a:t>
            </a:r>
            <a:endParaRPr/>
          </a:p>
        </p:txBody>
      </p:sp>
      <p:sp>
        <p:nvSpPr>
          <p:cNvPr id="633" name="Google Shape;633;p39"/>
          <p:cNvSpPr txBox="1"/>
          <p:nvPr/>
        </p:nvSpPr>
        <p:spPr>
          <a:xfrm>
            <a:off x="4472512"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ROC &amp; AUC</a:t>
            </a:r>
            <a:endParaRPr/>
          </a:p>
        </p:txBody>
      </p:sp>
      <p:sp>
        <p:nvSpPr>
          <p:cNvPr id="634" name="Google Shape;634;p39"/>
          <p:cNvSpPr txBox="1"/>
          <p:nvPr/>
        </p:nvSpPr>
        <p:spPr>
          <a:xfrm>
            <a:off x="4549824" y="3467100"/>
            <a:ext cx="3092499"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Đường cong ROC và diện tích AUC đo lường khả năng phân biệt hoàn hảo giữa lớp Trùng khớp và Không trùng khớp.</a:t>
            </a:r>
            <a:endParaRPr/>
          </a:p>
        </p:txBody>
      </p:sp>
      <p:sp>
        <p:nvSpPr>
          <p:cNvPr id="635" name="Google Shape;635;p39"/>
          <p:cNvSpPr txBox="1"/>
          <p:nvPr/>
        </p:nvSpPr>
        <p:spPr>
          <a:xfrm>
            <a:off x="8250811" y="3019425"/>
            <a:ext cx="3247124"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EER</a:t>
            </a:r>
            <a:endParaRPr/>
          </a:p>
        </p:txBody>
      </p:sp>
      <p:sp>
        <p:nvSpPr>
          <p:cNvPr id="636" name="Google Shape;636;p39"/>
          <p:cNvSpPr txBox="1"/>
          <p:nvPr/>
        </p:nvSpPr>
        <p:spPr>
          <a:xfrm>
            <a:off x="8328124" y="3467100"/>
            <a:ext cx="3092499"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Equal Error Rate: Điểm giao nhau giữa tỷ lệ chấp nhận sai (FAR) và tỷ lệ từ chối sai (FRR).</a:t>
            </a:r>
            <a:endParaRPr/>
          </a:p>
        </p:txBody>
      </p:sp>
      <p:pic>
        <p:nvPicPr>
          <p:cNvPr id="637" name="Google Shape;637;p39" descr="image.png"/>
          <p:cNvPicPr preferRelativeResize="0"/>
          <p:nvPr/>
        </p:nvPicPr>
        <p:blipFill rotWithShape="1">
          <a:blip r:embed="rId8">
            <a:alphaModFix/>
          </a:blip>
          <a:srcRect/>
          <a:stretch/>
        </p:blipFill>
        <p:spPr>
          <a:xfrm>
            <a:off x="2103387" y="2381250"/>
            <a:ext cx="428625" cy="381000"/>
          </a:xfrm>
          <a:prstGeom prst="rect">
            <a:avLst/>
          </a:prstGeom>
          <a:noFill/>
          <a:ln>
            <a:noFill/>
          </a:ln>
        </p:spPr>
      </p:pic>
      <p:pic>
        <p:nvPicPr>
          <p:cNvPr id="638" name="Google Shape;638;p39" descr="image.png"/>
          <p:cNvPicPr preferRelativeResize="0"/>
          <p:nvPr/>
        </p:nvPicPr>
        <p:blipFill rotWithShape="1">
          <a:blip r:embed="rId9">
            <a:alphaModFix/>
          </a:blip>
          <a:srcRect/>
          <a:stretch/>
        </p:blipFill>
        <p:spPr>
          <a:xfrm>
            <a:off x="5905500" y="2381250"/>
            <a:ext cx="381000" cy="381000"/>
          </a:xfrm>
          <a:prstGeom prst="rect">
            <a:avLst/>
          </a:prstGeom>
          <a:noFill/>
          <a:ln>
            <a:noFill/>
          </a:ln>
        </p:spPr>
      </p:pic>
      <p:pic>
        <p:nvPicPr>
          <p:cNvPr id="639" name="Google Shape;639;p39" descr="image.png"/>
          <p:cNvPicPr preferRelativeResize="0"/>
          <p:nvPr/>
        </p:nvPicPr>
        <p:blipFill rotWithShape="1">
          <a:blip r:embed="rId10">
            <a:alphaModFix/>
          </a:blip>
          <a:srcRect/>
          <a:stretch/>
        </p:blipFill>
        <p:spPr>
          <a:xfrm>
            <a:off x="9636174" y="2381250"/>
            <a:ext cx="476250" cy="381000"/>
          </a:xfrm>
          <a:prstGeom prst="rect">
            <a:avLst/>
          </a:prstGeom>
          <a:noFill/>
          <a:ln>
            <a:noFill/>
          </a:ln>
        </p:spPr>
      </p:pic>
      <p:pic>
        <p:nvPicPr>
          <p:cNvPr id="3" name="Picture 2" descr="Thông báo">
            <a:extLst>
              <a:ext uri="{FF2B5EF4-FFF2-40B4-BE49-F238E27FC236}">
                <a16:creationId xmlns:a16="http://schemas.microsoft.com/office/drawing/2014/main" id="{68F6BE7B-CC85-E9D3-0743-54A123AEF608}"/>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3"/>
        <p:cNvGrpSpPr/>
        <p:nvPr/>
      </p:nvGrpSpPr>
      <p:grpSpPr>
        <a:xfrm>
          <a:off x="0" y="0"/>
          <a:ext cx="0" cy="0"/>
          <a:chOff x="0" y="0"/>
          <a:chExt cx="0" cy="0"/>
        </a:xfrm>
      </p:grpSpPr>
      <p:pic>
        <p:nvPicPr>
          <p:cNvPr id="644" name="Google Shape;644;p40"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645" name="Google Shape;645;p40"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646" name="Google Shape;646;p40"/>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7" name="Google Shape;647;p40"/>
          <p:cNvSpPr txBox="1"/>
          <p:nvPr/>
        </p:nvSpPr>
        <p:spPr>
          <a:xfrm>
            <a:off x="3990975" y="242887"/>
            <a:ext cx="272034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4. ĐÁNH GIÁ</a:t>
            </a:r>
            <a:endParaRPr/>
          </a:p>
        </p:txBody>
      </p:sp>
      <p:sp>
        <p:nvSpPr>
          <p:cNvPr id="648" name="Google Shape;648;p40"/>
          <p:cNvSpPr txBox="1"/>
          <p:nvPr/>
        </p:nvSpPr>
        <p:spPr>
          <a:xfrm>
            <a:off x="571500" y="1143000"/>
            <a:ext cx="8301037"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Kết Quả Thực Nghiệm (ResNet-50 + ArcFace)</a:t>
            </a:r>
            <a:endParaRPr/>
          </a:p>
        </p:txBody>
      </p:sp>
      <p:sp>
        <p:nvSpPr>
          <p:cNvPr id="649" name="Google Shape;649;p40"/>
          <p:cNvSpPr/>
          <p:nvPr/>
        </p:nvSpPr>
        <p:spPr>
          <a:xfrm>
            <a:off x="571500" y="1657350"/>
            <a:ext cx="790575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650" name="Google Shape;650;p40"/>
          <p:cNvGraphicFramePr/>
          <p:nvPr/>
        </p:nvGraphicFramePr>
        <p:xfrm>
          <a:off x="571500" y="2066925"/>
          <a:ext cx="11049000" cy="2817375"/>
        </p:xfrm>
        <a:graphic>
          <a:graphicData uri="http://schemas.openxmlformats.org/drawingml/2006/table">
            <a:tbl>
              <a:tblPr firstRow="1" bandRow="1">
                <a:noFill/>
                <a:tableStyleId>{058DF0C4-FC9D-46FB-A0C7-711C2C6CB1AF}</a:tableStyleId>
              </a:tblPr>
              <a:tblGrid>
                <a:gridCol w="2148325">
                  <a:extLst>
                    <a:ext uri="{9D8B030D-6E8A-4147-A177-3AD203B41FA5}">
                      <a16:colId xmlns:a16="http://schemas.microsoft.com/office/drawing/2014/main" val="20000"/>
                    </a:ext>
                  </a:extLst>
                </a:gridCol>
                <a:gridCol w="4048275">
                  <a:extLst>
                    <a:ext uri="{9D8B030D-6E8A-4147-A177-3AD203B41FA5}">
                      <a16:colId xmlns:a16="http://schemas.microsoft.com/office/drawing/2014/main" val="20001"/>
                    </a:ext>
                  </a:extLst>
                </a:gridCol>
                <a:gridCol w="1929100">
                  <a:extLst>
                    <a:ext uri="{9D8B030D-6E8A-4147-A177-3AD203B41FA5}">
                      <a16:colId xmlns:a16="http://schemas.microsoft.com/office/drawing/2014/main" val="20002"/>
                    </a:ext>
                  </a:extLst>
                </a:gridCol>
                <a:gridCol w="1461500">
                  <a:extLst>
                    <a:ext uri="{9D8B030D-6E8A-4147-A177-3AD203B41FA5}">
                      <a16:colId xmlns:a16="http://schemas.microsoft.com/office/drawing/2014/main" val="20003"/>
                    </a:ext>
                  </a:extLst>
                </a:gridCol>
                <a:gridCol w="1461800">
                  <a:extLst>
                    <a:ext uri="{9D8B030D-6E8A-4147-A177-3AD203B41FA5}">
                      <a16:colId xmlns:a16="http://schemas.microsoft.com/office/drawing/2014/main" val="20004"/>
                    </a:ext>
                  </a:extLst>
                </a:gridCol>
              </a:tblGrid>
              <a:tr h="563475">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Tập Dữ Liệu</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Thách Thức Đặc Thù</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Accuracy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AUC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tc>
                  <a:txBody>
                    <a:bodyPr/>
                    <a:lstStyle/>
                    <a:p>
                      <a:pPr marL="0" marR="0" lvl="0" indent="0" algn="l" rtl="0">
                        <a:spcBef>
                          <a:spcPts val="0"/>
                        </a:spcBef>
                        <a:spcAft>
                          <a:spcPts val="0"/>
                        </a:spcAft>
                        <a:buNone/>
                      </a:pPr>
                      <a:r>
                        <a:rPr lang="en-US" sz="1200" b="0" i="0" u="none" strike="noStrike" cap="none">
                          <a:solidFill>
                            <a:srgbClr val="FFFFFF"/>
                          </a:solidFill>
                          <a:latin typeface="Montserrat SemiBold"/>
                          <a:ea typeface="Montserrat SemiBold"/>
                          <a:cs typeface="Montserrat SemiBold"/>
                          <a:sym typeface="Montserrat SemiBold"/>
                        </a:rPr>
                        <a:t>EER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3A8A"/>
                    </a:solidFill>
                  </a:tcPr>
                </a:tc>
                <a:extLst>
                  <a:ext uri="{0D108BD9-81ED-4DB2-BD59-A6C34878D82A}">
                    <a16:rowId xmlns:a16="http://schemas.microsoft.com/office/drawing/2014/main" val="10000"/>
                  </a:ext>
                </a:extLst>
              </a:tr>
              <a:tr h="563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LFW</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Ảnh tự nhiên tổng quát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86.70%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92.82%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14.38%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63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CALFW</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Thay đổi tuổi tác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70.23%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77.18%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30.15%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63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CPLFW</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Thay đổi tư thế/góc nghiêng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70.15%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76.00%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30.58%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63475">
                <a:tc>
                  <a:txBody>
                    <a:bodyPr/>
                    <a:lstStyle/>
                    <a:p>
                      <a:pPr marL="0" marR="0" lvl="0" indent="0" algn="l" rtl="0">
                        <a:spcBef>
                          <a:spcPts val="0"/>
                        </a:spcBef>
                        <a:spcAft>
                          <a:spcPts val="0"/>
                        </a:spcAft>
                        <a:buNone/>
                      </a:pPr>
                      <a:r>
                        <a:rPr lang="en-US" sz="1350" b="1" i="0" u="none" strike="noStrike" cap="none">
                          <a:solidFill>
                            <a:srgbClr val="334155"/>
                          </a:solidFill>
                          <a:latin typeface="Open Sans"/>
                          <a:ea typeface="Open Sans"/>
                          <a:cs typeface="Open Sans"/>
                          <a:sym typeface="Open Sans"/>
                        </a:rPr>
                        <a:t>AgeDB-30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Khác biệt tuổi tác rất lớn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65.83%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71.21%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350" b="0" i="0" u="none" strike="noStrike" cap="none">
                          <a:solidFill>
                            <a:srgbClr val="334155"/>
                          </a:solidFill>
                          <a:latin typeface="Open Sans"/>
                          <a:ea typeface="Open Sans"/>
                          <a:cs typeface="Open Sans"/>
                          <a:sym typeface="Open Sans"/>
                        </a:rPr>
                        <a:t>34.63%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651" name="Google Shape;651;p40"/>
          <p:cNvSpPr txBox="1"/>
          <p:nvPr/>
        </p:nvSpPr>
        <p:spPr>
          <a:xfrm>
            <a:off x="571500" y="5027116"/>
            <a:ext cx="9410700" cy="2437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1" u="none" strike="noStrike" cap="none">
                <a:solidFill>
                  <a:srgbClr val="334155"/>
                </a:solidFill>
                <a:latin typeface="Open Sans"/>
                <a:ea typeface="Open Sans"/>
                <a:cs typeface="Open Sans"/>
                <a:sym typeface="Open Sans"/>
              </a:rPr>
              <a:t>*Ghi chú: So với thuật toán truyền thống như LBPH (Accuracy ~50%), ArcFace kết hợp ResNet-50 cho hiệu năng vượt trội hoàn toàn.</a:t>
            </a:r>
            <a:endParaRPr/>
          </a:p>
        </p:txBody>
      </p:sp>
      <p:sp>
        <p:nvSpPr>
          <p:cNvPr id="652" name="Google Shape;652;p40"/>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653" name="Google Shape;653;p40"/>
          <p:cNvSpPr/>
          <p:nvPr/>
        </p:nvSpPr>
        <p:spPr>
          <a:xfrm>
            <a:off x="571500" y="2591692"/>
            <a:ext cx="21483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4" name="Google Shape;654;p40"/>
          <p:cNvSpPr/>
          <p:nvPr/>
        </p:nvSpPr>
        <p:spPr>
          <a:xfrm>
            <a:off x="2719833" y="2591692"/>
            <a:ext cx="40482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5" name="Google Shape;655;p40"/>
          <p:cNvSpPr/>
          <p:nvPr/>
        </p:nvSpPr>
        <p:spPr>
          <a:xfrm>
            <a:off x="6768107" y="2591692"/>
            <a:ext cx="192911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6" name="Google Shape;656;p40"/>
          <p:cNvSpPr/>
          <p:nvPr/>
        </p:nvSpPr>
        <p:spPr>
          <a:xfrm>
            <a:off x="8697217" y="2591692"/>
            <a:ext cx="146149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7" name="Google Shape;657;p40"/>
          <p:cNvSpPr/>
          <p:nvPr/>
        </p:nvSpPr>
        <p:spPr>
          <a:xfrm>
            <a:off x="10158710" y="2591692"/>
            <a:ext cx="1461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0" name="Google Shape;660;p40"/>
          <p:cNvSpPr/>
          <p:nvPr/>
        </p:nvSpPr>
        <p:spPr>
          <a:xfrm>
            <a:off x="571500" y="3161258"/>
            <a:ext cx="21483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1" name="Google Shape;661;p40"/>
          <p:cNvSpPr/>
          <p:nvPr/>
        </p:nvSpPr>
        <p:spPr>
          <a:xfrm>
            <a:off x="2719833" y="3161258"/>
            <a:ext cx="40482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2" name="Google Shape;662;p40"/>
          <p:cNvSpPr/>
          <p:nvPr/>
        </p:nvSpPr>
        <p:spPr>
          <a:xfrm>
            <a:off x="6768107" y="3161258"/>
            <a:ext cx="192911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3" name="Google Shape;663;p40"/>
          <p:cNvSpPr/>
          <p:nvPr/>
        </p:nvSpPr>
        <p:spPr>
          <a:xfrm>
            <a:off x="8697217" y="3161258"/>
            <a:ext cx="146149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4" name="Google Shape;664;p40"/>
          <p:cNvSpPr/>
          <p:nvPr/>
        </p:nvSpPr>
        <p:spPr>
          <a:xfrm>
            <a:off x="10158710" y="3161258"/>
            <a:ext cx="1461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5" name="Google Shape;665;p40"/>
          <p:cNvSpPr/>
          <p:nvPr/>
        </p:nvSpPr>
        <p:spPr>
          <a:xfrm>
            <a:off x="571500" y="3730823"/>
            <a:ext cx="21483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6" name="Google Shape;666;p40"/>
          <p:cNvSpPr/>
          <p:nvPr/>
        </p:nvSpPr>
        <p:spPr>
          <a:xfrm>
            <a:off x="2719833" y="3730823"/>
            <a:ext cx="40482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7" name="Google Shape;667;p40"/>
          <p:cNvSpPr/>
          <p:nvPr/>
        </p:nvSpPr>
        <p:spPr>
          <a:xfrm>
            <a:off x="6768107" y="3730823"/>
            <a:ext cx="192911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8" name="Google Shape;668;p40"/>
          <p:cNvSpPr/>
          <p:nvPr/>
        </p:nvSpPr>
        <p:spPr>
          <a:xfrm>
            <a:off x="8697217" y="3730823"/>
            <a:ext cx="146149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9" name="Google Shape;669;p40"/>
          <p:cNvSpPr/>
          <p:nvPr/>
        </p:nvSpPr>
        <p:spPr>
          <a:xfrm>
            <a:off x="10158710" y="3730823"/>
            <a:ext cx="1461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0" name="Google Shape;670;p40"/>
          <p:cNvSpPr/>
          <p:nvPr/>
        </p:nvSpPr>
        <p:spPr>
          <a:xfrm>
            <a:off x="571500" y="4300388"/>
            <a:ext cx="21483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1" name="Google Shape;671;p40"/>
          <p:cNvSpPr/>
          <p:nvPr/>
        </p:nvSpPr>
        <p:spPr>
          <a:xfrm>
            <a:off x="2719833" y="4300388"/>
            <a:ext cx="40482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2" name="Google Shape;672;p40"/>
          <p:cNvSpPr/>
          <p:nvPr/>
        </p:nvSpPr>
        <p:spPr>
          <a:xfrm>
            <a:off x="6768107" y="4300388"/>
            <a:ext cx="192911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3" name="Google Shape;673;p40"/>
          <p:cNvSpPr/>
          <p:nvPr/>
        </p:nvSpPr>
        <p:spPr>
          <a:xfrm>
            <a:off x="8697217" y="4300388"/>
            <a:ext cx="146149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4" name="Google Shape;674;p40"/>
          <p:cNvSpPr/>
          <p:nvPr/>
        </p:nvSpPr>
        <p:spPr>
          <a:xfrm>
            <a:off x="10158710" y="4300388"/>
            <a:ext cx="1461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5" name="Google Shape;675;p40"/>
          <p:cNvSpPr/>
          <p:nvPr/>
        </p:nvSpPr>
        <p:spPr>
          <a:xfrm>
            <a:off x="571500" y="4869953"/>
            <a:ext cx="214833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6" name="Google Shape;676;p40"/>
          <p:cNvSpPr/>
          <p:nvPr/>
        </p:nvSpPr>
        <p:spPr>
          <a:xfrm>
            <a:off x="2719833" y="4869953"/>
            <a:ext cx="40482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7" name="Google Shape;677;p40"/>
          <p:cNvSpPr/>
          <p:nvPr/>
        </p:nvSpPr>
        <p:spPr>
          <a:xfrm>
            <a:off x="6768107" y="4869953"/>
            <a:ext cx="192911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8" name="Google Shape;678;p40"/>
          <p:cNvSpPr/>
          <p:nvPr/>
        </p:nvSpPr>
        <p:spPr>
          <a:xfrm>
            <a:off x="8697217" y="4869953"/>
            <a:ext cx="146149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9" name="Google Shape;679;p40"/>
          <p:cNvSpPr/>
          <p:nvPr/>
        </p:nvSpPr>
        <p:spPr>
          <a:xfrm>
            <a:off x="10158710" y="4869953"/>
            <a:ext cx="146178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descr="Thông báo">
            <a:extLst>
              <a:ext uri="{FF2B5EF4-FFF2-40B4-BE49-F238E27FC236}">
                <a16:creationId xmlns:a16="http://schemas.microsoft.com/office/drawing/2014/main" id="{F5234D0C-FC62-D110-5803-92144094F26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3"/>
        <p:cNvGrpSpPr/>
        <p:nvPr/>
      </p:nvGrpSpPr>
      <p:grpSpPr>
        <a:xfrm>
          <a:off x="0" y="0"/>
          <a:ext cx="0" cy="0"/>
          <a:chOff x="0" y="0"/>
          <a:chExt cx="0" cy="0"/>
        </a:xfrm>
      </p:grpSpPr>
      <p:pic>
        <p:nvPicPr>
          <p:cNvPr id="684" name="Google Shape;684;p41"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685" name="Google Shape;685;p41"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686" name="Google Shape;686;p41"/>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87" name="Google Shape;687;p41"/>
          <p:cNvSpPr txBox="1"/>
          <p:nvPr/>
        </p:nvSpPr>
        <p:spPr>
          <a:xfrm>
            <a:off x="3990975" y="242887"/>
            <a:ext cx="2250281"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CHƯƠNG 4. DEMO</a:t>
            </a:r>
            <a:endParaRPr/>
          </a:p>
        </p:txBody>
      </p:sp>
      <p:sp>
        <p:nvSpPr>
          <p:cNvPr id="688" name="Google Shape;688;p41"/>
          <p:cNvSpPr txBox="1"/>
          <p:nvPr/>
        </p:nvSpPr>
        <p:spPr>
          <a:xfrm>
            <a:off x="571500" y="1559272"/>
            <a:ext cx="5200650" cy="866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Kiến Trúc &amp; Demo Hệ Thống</a:t>
            </a:r>
            <a:endParaRPr/>
          </a:p>
        </p:txBody>
      </p:sp>
      <p:sp>
        <p:nvSpPr>
          <p:cNvPr id="689" name="Google Shape;689;p41"/>
          <p:cNvSpPr/>
          <p:nvPr/>
        </p:nvSpPr>
        <p:spPr>
          <a:xfrm>
            <a:off x="571500" y="2492722"/>
            <a:ext cx="4953000"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1" name="Google Shape;691;p41"/>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694" name="Google Shape;694;p41"/>
          <p:cNvSpPr txBox="1"/>
          <p:nvPr/>
        </p:nvSpPr>
        <p:spPr>
          <a:xfrm>
            <a:off x="952500" y="2807047"/>
            <a:ext cx="4572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Frontend:</a:t>
            </a:r>
            <a:r>
              <a:rPr lang="en-US" sz="1350" b="0" i="0" u="none" strike="noStrike" cap="none">
                <a:solidFill>
                  <a:srgbClr val="334155"/>
                </a:solidFill>
                <a:latin typeface="Open Sans"/>
                <a:ea typeface="Open Sans"/>
                <a:cs typeface="Open Sans"/>
                <a:sym typeface="Open Sans"/>
              </a:rPr>
              <a:t> React 19 + Vite + Recharts hiển thị Dashboard trực quan và truyền luồng video MJPEG.</a:t>
            </a:r>
            <a:endParaRPr/>
          </a:p>
        </p:txBody>
      </p:sp>
      <p:sp>
        <p:nvSpPr>
          <p:cNvPr id="695" name="Google Shape;695;p41"/>
          <p:cNvSpPr txBox="1"/>
          <p:nvPr/>
        </p:nvSpPr>
        <p:spPr>
          <a:xfrm>
            <a:off x="952500" y="3593752"/>
            <a:ext cx="4572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Backend API:</a:t>
            </a:r>
            <a:r>
              <a:rPr lang="en-US" sz="1350" b="0" i="0" u="none" strike="noStrike" cap="none">
                <a:solidFill>
                  <a:srgbClr val="334155"/>
                </a:solidFill>
                <a:latin typeface="Open Sans"/>
                <a:ea typeface="Open Sans"/>
                <a:cs typeface="Open Sans"/>
                <a:sym typeface="Open Sans"/>
              </a:rPr>
              <a:t> FastAPI xử lý đa luồng (threading).</a:t>
            </a:r>
            <a:endParaRPr/>
          </a:p>
        </p:txBody>
      </p:sp>
      <p:sp>
        <p:nvSpPr>
          <p:cNvPr id="696" name="Google Shape;696;p41"/>
          <p:cNvSpPr txBox="1"/>
          <p:nvPr/>
        </p:nvSpPr>
        <p:spPr>
          <a:xfrm>
            <a:off x="952500" y="4106167"/>
            <a:ext cx="4572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AI Engine:</a:t>
            </a:r>
            <a:r>
              <a:rPr lang="en-US" sz="1350" b="0" i="0" u="none" strike="noStrike" cap="none">
                <a:solidFill>
                  <a:srgbClr val="334155"/>
                </a:solidFill>
                <a:latin typeface="Open Sans"/>
                <a:ea typeface="Open Sans"/>
                <a:cs typeface="Open Sans"/>
                <a:sym typeface="Open Sans"/>
              </a:rPr>
              <a:t> Tích hợp Anti-Spoofing chặn ảnh giấy/video giả, FAISS tăng tốc tìm kiếm.</a:t>
            </a:r>
            <a:endParaRPr/>
          </a:p>
        </p:txBody>
      </p:sp>
      <p:sp>
        <p:nvSpPr>
          <p:cNvPr id="697" name="Google Shape;697;p41"/>
          <p:cNvSpPr txBox="1"/>
          <p:nvPr/>
        </p:nvSpPr>
        <p:spPr>
          <a:xfrm>
            <a:off x="952500" y="4892873"/>
            <a:ext cx="4572000"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334155"/>
                </a:solidFill>
                <a:latin typeface="Open Sans"/>
                <a:ea typeface="Open Sans"/>
                <a:cs typeface="Open Sans"/>
                <a:sym typeface="Open Sans"/>
              </a:rPr>
              <a:t>Database:</a:t>
            </a:r>
            <a:r>
              <a:rPr lang="en-US" sz="1350" b="0" i="0" u="none" strike="noStrike" cap="none">
                <a:solidFill>
                  <a:srgbClr val="334155"/>
                </a:solidFill>
                <a:latin typeface="Open Sans"/>
                <a:ea typeface="Open Sans"/>
                <a:cs typeface="Open Sans"/>
                <a:sym typeface="Open Sans"/>
              </a:rPr>
              <a:t> Supabase (PostgreSQL) lưu trữ nhân viên, embedding, và báo cáo chấm công.</a:t>
            </a:r>
            <a:endParaRPr/>
          </a:p>
        </p:txBody>
      </p:sp>
      <p:pic>
        <p:nvPicPr>
          <p:cNvPr id="3" name="Picture 2" descr="Thông báo">
            <a:extLst>
              <a:ext uri="{FF2B5EF4-FFF2-40B4-BE49-F238E27FC236}">
                <a16:creationId xmlns:a16="http://schemas.microsoft.com/office/drawing/2014/main" id="{FCB99CB1-ED60-775A-4F69-F0F414AE4213}"/>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pic>
        <p:nvPicPr>
          <p:cNvPr id="5" name="image41.png">
            <a:extLst>
              <a:ext uri="{FF2B5EF4-FFF2-40B4-BE49-F238E27FC236}">
                <a16:creationId xmlns:a16="http://schemas.microsoft.com/office/drawing/2014/main" id="{CA569203-A30B-FF56-E079-819D8B5F8571}"/>
              </a:ext>
            </a:extLst>
          </p:cNvPr>
          <p:cNvPicPr/>
          <p:nvPr/>
        </p:nvPicPr>
        <p:blipFill>
          <a:blip r:embed="rId6"/>
          <a:srcRect r="18707"/>
          <a:stretch>
            <a:fillRect/>
          </a:stretch>
        </p:blipFill>
        <p:spPr>
          <a:xfrm>
            <a:off x="5772150" y="761999"/>
            <a:ext cx="6419850" cy="6096001"/>
          </a:xfrm>
          <a:prstGeom prst="rect">
            <a:avLst/>
          </a:prstGeom>
          <a:ln w="12700">
            <a:solidFill>
              <a:srgbClr val="000000"/>
            </a:solidFill>
            <a:prstDash val="soli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1"/>
        <p:cNvGrpSpPr/>
        <p:nvPr/>
      </p:nvGrpSpPr>
      <p:grpSpPr>
        <a:xfrm>
          <a:off x="0" y="0"/>
          <a:ext cx="0" cy="0"/>
          <a:chOff x="0" y="0"/>
          <a:chExt cx="0" cy="0"/>
        </a:xfrm>
      </p:grpSpPr>
      <p:pic>
        <p:nvPicPr>
          <p:cNvPr id="702" name="Google Shape;702;p42" descr="image.png"/>
          <p:cNvPicPr preferRelativeResize="0"/>
          <p:nvPr/>
        </p:nvPicPr>
        <p:blipFill rotWithShape="1">
          <a:blip r:embed="rId3">
            <a:alphaModFix/>
          </a:blip>
          <a:srcRect/>
          <a:stretch/>
        </p:blipFill>
        <p:spPr>
          <a:xfrm>
            <a:off x="381000" y="147637"/>
            <a:ext cx="609600" cy="466725"/>
          </a:xfrm>
          <a:prstGeom prst="rect">
            <a:avLst/>
          </a:prstGeom>
          <a:noFill/>
          <a:ln>
            <a:noFill/>
          </a:ln>
        </p:spPr>
      </p:pic>
      <p:pic>
        <p:nvPicPr>
          <p:cNvPr id="703" name="Google Shape;703;p42" descr="image.png"/>
          <p:cNvPicPr preferRelativeResize="0"/>
          <p:nvPr/>
        </p:nvPicPr>
        <p:blipFill rotWithShape="1">
          <a:blip r:embed="rId4">
            <a:alphaModFix/>
          </a:blip>
          <a:srcRect/>
          <a:stretch/>
        </p:blipFill>
        <p:spPr>
          <a:xfrm>
            <a:off x="0" y="0"/>
            <a:ext cx="12192000" cy="762000"/>
          </a:xfrm>
          <a:prstGeom prst="rect">
            <a:avLst/>
          </a:prstGeom>
          <a:noFill/>
          <a:ln>
            <a:noFill/>
          </a:ln>
        </p:spPr>
      </p:pic>
      <p:sp>
        <p:nvSpPr>
          <p:cNvPr id="704" name="Google Shape;704;p42"/>
          <p:cNvSpPr/>
          <p:nvPr/>
        </p:nvSpPr>
        <p:spPr>
          <a:xfrm>
            <a:off x="3781425" y="190500"/>
            <a:ext cx="19050" cy="381000"/>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05" name="Google Shape;705;p42"/>
          <p:cNvSpPr txBox="1"/>
          <p:nvPr/>
        </p:nvSpPr>
        <p:spPr>
          <a:xfrm>
            <a:off x="3990975" y="242887"/>
            <a:ext cx="123015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FFFFFF"/>
                </a:solidFill>
                <a:latin typeface="Montserrat Medium"/>
                <a:ea typeface="Montserrat Medium"/>
                <a:cs typeface="Montserrat Medium"/>
                <a:sym typeface="Montserrat Medium"/>
              </a:rPr>
              <a:t>KẾT LUẬN</a:t>
            </a:r>
            <a:endParaRPr/>
          </a:p>
        </p:txBody>
      </p:sp>
      <p:sp>
        <p:nvSpPr>
          <p:cNvPr id="706" name="Google Shape;706;p42"/>
          <p:cNvSpPr txBox="1"/>
          <p:nvPr/>
        </p:nvSpPr>
        <p:spPr>
          <a:xfrm>
            <a:off x="571500" y="1143000"/>
            <a:ext cx="5410676"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0" i="0" u="none" strike="noStrike" cap="none">
                <a:solidFill>
                  <a:srgbClr val="1E3A8A"/>
                </a:solidFill>
                <a:latin typeface="Montserrat SemiBold"/>
                <a:ea typeface="Montserrat SemiBold"/>
                <a:cs typeface="Montserrat SemiBold"/>
                <a:sym typeface="Montserrat SemiBold"/>
              </a:rPr>
              <a:t>Kết Luận &amp; Hướng Phát Triển</a:t>
            </a:r>
            <a:endParaRPr/>
          </a:p>
        </p:txBody>
      </p:sp>
      <p:sp>
        <p:nvSpPr>
          <p:cNvPr id="707" name="Google Shape;707;p42"/>
          <p:cNvSpPr/>
          <p:nvPr/>
        </p:nvSpPr>
        <p:spPr>
          <a:xfrm>
            <a:off x="571500" y="1657350"/>
            <a:ext cx="5153025" cy="28575"/>
          </a:xfrm>
          <a:prstGeom prst="rect">
            <a:avLst/>
          </a:prstGeom>
          <a:solidFill>
            <a:srgbClr val="F59E0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08" name="Google Shape;708;p42"/>
          <p:cNvSpPr txBox="1"/>
          <p:nvPr/>
        </p:nvSpPr>
        <p:spPr>
          <a:xfrm>
            <a:off x="1133475" y="266700"/>
            <a:ext cx="24574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Open Sans"/>
                <a:ea typeface="Open Sans"/>
                <a:cs typeface="Open Sans"/>
                <a:sym typeface="Open Sans"/>
              </a:rPr>
              <a:t>HỌC VIỆN NGÂN HÀNG</a:t>
            </a:r>
            <a:endParaRPr/>
          </a:p>
        </p:txBody>
      </p:sp>
      <p:sp>
        <p:nvSpPr>
          <p:cNvPr id="711" name="Google Shape;711;p42"/>
          <p:cNvSpPr txBox="1"/>
          <p:nvPr/>
        </p:nvSpPr>
        <p:spPr>
          <a:xfrm>
            <a:off x="571500" y="1971675"/>
            <a:ext cx="5550693" cy="276225"/>
          </a:xfrm>
          <a:prstGeom prst="rect">
            <a:avLst/>
          </a:prstGeom>
          <a:noFill/>
          <a:ln>
            <a:noFill/>
          </a:ln>
        </p:spPr>
        <p:txBody>
          <a:bodyPr spcFirstLastPara="1" wrap="square" lIns="200025"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Kết Quả Đạt Được</a:t>
            </a:r>
            <a:endParaRPr/>
          </a:p>
        </p:txBody>
      </p:sp>
      <p:sp>
        <p:nvSpPr>
          <p:cNvPr id="712" name="Google Shape;712;p42"/>
          <p:cNvSpPr txBox="1"/>
          <p:nvPr/>
        </p:nvSpPr>
        <p:spPr>
          <a:xfrm>
            <a:off x="6334125" y="1971675"/>
            <a:ext cx="5550693" cy="276225"/>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800" b="0" i="0" u="none" strike="noStrike" cap="none">
                <a:solidFill>
                  <a:srgbClr val="F59E0B"/>
                </a:solidFill>
                <a:latin typeface="Montserrat SemiBold"/>
                <a:ea typeface="Montserrat SemiBold"/>
                <a:cs typeface="Montserrat SemiBold"/>
                <a:sym typeface="Montserrat SemiBold"/>
              </a:rPr>
              <a:t>Hướng Phát Triển</a:t>
            </a:r>
            <a:endParaRPr/>
          </a:p>
        </p:txBody>
      </p:sp>
      <p:pic>
        <p:nvPicPr>
          <p:cNvPr id="713" name="Google Shape;713;p42" descr="image.png"/>
          <p:cNvPicPr preferRelativeResize="0"/>
          <p:nvPr/>
        </p:nvPicPr>
        <p:blipFill rotWithShape="1">
          <a:blip r:embed="rId5">
            <a:alphaModFix/>
          </a:blip>
          <a:srcRect/>
          <a:stretch/>
        </p:blipFill>
        <p:spPr>
          <a:xfrm>
            <a:off x="571500" y="1990725"/>
            <a:ext cx="200025" cy="228600"/>
          </a:xfrm>
          <a:prstGeom prst="rect">
            <a:avLst/>
          </a:prstGeom>
          <a:noFill/>
          <a:ln>
            <a:noFill/>
          </a:ln>
        </p:spPr>
      </p:pic>
      <p:pic>
        <p:nvPicPr>
          <p:cNvPr id="714" name="Google Shape;714;p42" descr="image.png"/>
          <p:cNvPicPr preferRelativeResize="0"/>
          <p:nvPr/>
        </p:nvPicPr>
        <p:blipFill rotWithShape="1">
          <a:blip r:embed="rId6">
            <a:alphaModFix/>
          </a:blip>
          <a:srcRect/>
          <a:stretch/>
        </p:blipFill>
        <p:spPr>
          <a:xfrm>
            <a:off x="6334125" y="1990725"/>
            <a:ext cx="228600" cy="228600"/>
          </a:xfrm>
          <a:prstGeom prst="rect">
            <a:avLst/>
          </a:prstGeom>
          <a:noFill/>
          <a:ln>
            <a:noFill/>
          </a:ln>
        </p:spPr>
      </p:pic>
      <p:sp>
        <p:nvSpPr>
          <p:cNvPr id="715" name="Google Shape;715;p42"/>
          <p:cNvSpPr txBox="1"/>
          <p:nvPr/>
        </p:nvSpPr>
        <p:spPr>
          <a:xfrm>
            <a:off x="952500" y="2390775"/>
            <a:ext cx="4905375"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Triển khai thành công mô hình ArcFace + ResNet-50.</a:t>
            </a:r>
            <a:endParaRPr/>
          </a:p>
        </p:txBody>
      </p:sp>
      <p:sp>
        <p:nvSpPr>
          <p:cNvPr id="716" name="Google Shape;716;p42"/>
          <p:cNvSpPr txBox="1"/>
          <p:nvPr/>
        </p:nvSpPr>
        <p:spPr>
          <a:xfrm>
            <a:off x="952500" y="2903190"/>
            <a:ext cx="4905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Tự động hóa hoàn toàn quy trình chấm công realtime.</a:t>
            </a:r>
            <a:endParaRPr/>
          </a:p>
        </p:txBody>
      </p:sp>
      <p:sp>
        <p:nvSpPr>
          <p:cNvPr id="717" name="Google Shape;717;p42"/>
          <p:cNvSpPr txBox="1"/>
          <p:nvPr/>
        </p:nvSpPr>
        <p:spPr>
          <a:xfrm>
            <a:off x="952500" y="3415605"/>
            <a:ext cx="4905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Xây dựng Frontend/Backend hoàn chỉnh, sẵn sàng demo.</a:t>
            </a:r>
            <a:endParaRPr/>
          </a:p>
        </p:txBody>
      </p:sp>
      <p:sp>
        <p:nvSpPr>
          <p:cNvPr id="718" name="Google Shape;718;p42"/>
          <p:cNvSpPr txBox="1"/>
          <p:nvPr/>
        </p:nvSpPr>
        <p:spPr>
          <a:xfrm>
            <a:off x="6715125" y="2390775"/>
            <a:ext cx="49053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Cải thiện mô hình với tập dữ liệu phong phú hơn (đeo khẩu trang, thiếu sáng).</a:t>
            </a:r>
            <a:endParaRPr/>
          </a:p>
        </p:txBody>
      </p:sp>
      <p:sp>
        <p:nvSpPr>
          <p:cNvPr id="719" name="Google Shape;719;p42"/>
          <p:cNvSpPr txBox="1"/>
          <p:nvPr/>
        </p:nvSpPr>
        <p:spPr>
          <a:xfrm>
            <a:off x="6715125" y="3177480"/>
            <a:ext cx="4905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Nâng cấp thuật toán Anti-spoofing chuyên sâu.</a:t>
            </a:r>
            <a:endParaRPr/>
          </a:p>
        </p:txBody>
      </p:sp>
      <p:sp>
        <p:nvSpPr>
          <p:cNvPr id="720" name="Google Shape;720;p42"/>
          <p:cNvSpPr txBox="1"/>
          <p:nvPr/>
        </p:nvSpPr>
        <p:spPr>
          <a:xfrm>
            <a:off x="6715125" y="3689895"/>
            <a:ext cx="49053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Open Sans"/>
                <a:ea typeface="Open Sans"/>
                <a:cs typeface="Open Sans"/>
                <a:sym typeface="Open Sans"/>
              </a:rPr>
              <a:t>Triển khai Cloud, xử lý đồng thời luồng từ nhiều IP Camera.</a:t>
            </a:r>
            <a:endParaRPr/>
          </a:p>
        </p:txBody>
      </p:sp>
      <p:pic>
        <p:nvPicPr>
          <p:cNvPr id="3" name="Picture 2" descr="Thông báo">
            <a:extLst>
              <a:ext uri="{FF2B5EF4-FFF2-40B4-BE49-F238E27FC236}">
                <a16:creationId xmlns:a16="http://schemas.microsoft.com/office/drawing/2014/main" id="{676053CC-6F42-8B05-A0E5-A0662BC6655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9244" y="52786"/>
            <a:ext cx="522793" cy="6092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pic>
        <p:nvPicPr>
          <p:cNvPr id="5" name="Google Shape;84;p13" descr="image.png">
            <a:extLst>
              <a:ext uri="{FF2B5EF4-FFF2-40B4-BE49-F238E27FC236}">
                <a16:creationId xmlns:a16="http://schemas.microsoft.com/office/drawing/2014/main" id="{8F3F0F3D-8427-2640-476F-1F33F0EFFD06}"/>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02" name="Google Shape;502;p37" descr="image.png"/>
          <p:cNvPicPr preferRelativeResize="0"/>
          <p:nvPr/>
        </p:nvPicPr>
        <p:blipFill rotWithShape="1">
          <a:blip r:embed="rId4">
            <a:alphaModFix/>
          </a:blip>
          <a:srcRect/>
          <a:stretch/>
        </p:blipFill>
        <p:spPr>
          <a:xfrm>
            <a:off x="4195762" y="3904208"/>
            <a:ext cx="3800475" cy="1657350"/>
          </a:xfrm>
          <a:prstGeom prst="rect">
            <a:avLst/>
          </a:prstGeom>
          <a:noFill/>
          <a:ln>
            <a:noFill/>
          </a:ln>
        </p:spPr>
      </p:pic>
      <p:sp>
        <p:nvSpPr>
          <p:cNvPr id="503" name="Google Shape;503;p37"/>
          <p:cNvSpPr txBox="1"/>
          <p:nvPr/>
        </p:nvSpPr>
        <p:spPr>
          <a:xfrm>
            <a:off x="190500" y="1296441"/>
            <a:ext cx="11811000" cy="923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F2A900"/>
                </a:solidFill>
                <a:latin typeface="Montserrat" panose="00000500000000000000" pitchFamily="2" charset="-93"/>
                <a:ea typeface="Montserrat"/>
                <a:cs typeface="Montserrat"/>
                <a:sym typeface="Montserrat"/>
              </a:rPr>
              <a:t>THANK YOU FOR WATCHING</a:t>
            </a:r>
            <a:endParaRPr>
              <a:latin typeface="Montserrat" panose="00000500000000000000" pitchFamily="2" charset="-93"/>
            </a:endParaRPr>
          </a:p>
        </p:txBody>
      </p:sp>
      <p:sp>
        <p:nvSpPr>
          <p:cNvPr id="504" name="Google Shape;504;p37"/>
          <p:cNvSpPr txBox="1"/>
          <p:nvPr/>
        </p:nvSpPr>
        <p:spPr>
          <a:xfrm>
            <a:off x="3034146" y="2427014"/>
            <a:ext cx="6702136"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E2E8F0"/>
                </a:solidFill>
                <a:latin typeface="Montserrat" panose="00000500000000000000" pitchFamily="2" charset="-93"/>
                <a:ea typeface="Inter"/>
                <a:cs typeface="Inter"/>
                <a:sym typeface="Inter"/>
              </a:rPr>
              <a:t>Phần trình bày của Nhóm </a:t>
            </a:r>
            <a:r>
              <a:rPr lang="en-US" sz="1800">
                <a:solidFill>
                  <a:srgbClr val="E2E8F0"/>
                </a:solidFill>
                <a:latin typeface="Montserrat" panose="00000500000000000000" pitchFamily="2" charset="-93"/>
                <a:ea typeface="Inter"/>
                <a:cs typeface="Inter"/>
                <a:sym typeface="Inter"/>
              </a:rPr>
              <a:t>4</a:t>
            </a:r>
            <a:r>
              <a:rPr lang="en-US" sz="1800" b="0" i="0" u="none" strike="noStrike" cap="none">
                <a:solidFill>
                  <a:srgbClr val="E2E8F0"/>
                </a:solidFill>
                <a:latin typeface="Montserrat" panose="00000500000000000000" pitchFamily="2" charset="-93"/>
                <a:ea typeface="Inter"/>
                <a:cs typeface="Inter"/>
                <a:sym typeface="Inter"/>
              </a:rPr>
              <a:t> đến đây là kết thúc.</a:t>
            </a:r>
            <a:endParaRPr>
              <a:latin typeface="Montserrat" panose="00000500000000000000" pitchFamily="2" charset="-93"/>
            </a:endParaRPr>
          </a:p>
        </p:txBody>
      </p:sp>
      <p:sp>
        <p:nvSpPr>
          <p:cNvPr id="505" name="Google Shape;505;p37"/>
          <p:cNvSpPr txBox="1"/>
          <p:nvPr/>
        </p:nvSpPr>
        <p:spPr>
          <a:xfrm>
            <a:off x="3962400" y="2919412"/>
            <a:ext cx="5105400"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E2E8F0"/>
                </a:solidFill>
                <a:latin typeface="Montserrat" panose="00000500000000000000" pitchFamily="2" charset="-93"/>
                <a:ea typeface="Inter"/>
                <a:cs typeface="Inter"/>
                <a:sym typeface="Inter"/>
              </a:rPr>
              <a:t>Kính mong nhận được sự góp ý của Thầy!</a:t>
            </a:r>
            <a:endParaRPr>
              <a:latin typeface="Montserrat" panose="00000500000000000000" pitchFamily="2" charset="-93"/>
            </a:endParaRPr>
          </a:p>
        </p:txBody>
      </p:sp>
      <p:sp>
        <p:nvSpPr>
          <p:cNvPr id="506" name="Google Shape;506;p37"/>
          <p:cNvSpPr txBox="1"/>
          <p:nvPr/>
        </p:nvSpPr>
        <p:spPr>
          <a:xfrm>
            <a:off x="4672012" y="4189958"/>
            <a:ext cx="284797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FFFFFF"/>
                </a:solidFill>
                <a:latin typeface="Montserrat" panose="00000500000000000000" pitchFamily="2" charset="-93"/>
                <a:ea typeface="Inter"/>
                <a:cs typeface="Inter"/>
                <a:sym typeface="Inter"/>
              </a:rPr>
              <a:t>Học viện Ngân hàng</a:t>
            </a:r>
            <a:endParaRPr>
              <a:latin typeface="Montserrat" panose="00000500000000000000" pitchFamily="2" charset="-93"/>
            </a:endParaRPr>
          </a:p>
        </p:txBody>
      </p:sp>
      <p:sp>
        <p:nvSpPr>
          <p:cNvPr id="507" name="Google Shape;507;p37"/>
          <p:cNvSpPr txBox="1"/>
          <p:nvPr/>
        </p:nvSpPr>
        <p:spPr>
          <a:xfrm>
            <a:off x="4672012" y="4513808"/>
            <a:ext cx="3212148"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Montserrat" panose="00000500000000000000" pitchFamily="2" charset="-93"/>
                <a:ea typeface="Inter"/>
                <a:cs typeface="Inter"/>
                <a:sym typeface="Inter"/>
              </a:rPr>
              <a:t>12 P. Chùa Bộc, P. Kim Liên, TP. Hà Nội</a:t>
            </a:r>
            <a:endParaRPr>
              <a:latin typeface="Montserrat" panose="00000500000000000000" pitchFamily="2" charset="-93"/>
            </a:endParaRPr>
          </a:p>
        </p:txBody>
      </p:sp>
      <p:sp>
        <p:nvSpPr>
          <p:cNvPr id="508" name="Google Shape;508;p37"/>
          <p:cNvSpPr txBox="1"/>
          <p:nvPr/>
        </p:nvSpPr>
        <p:spPr>
          <a:xfrm>
            <a:off x="4672012" y="4704308"/>
            <a:ext cx="284797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Montserrat" panose="00000500000000000000" pitchFamily="2" charset="-93"/>
                <a:ea typeface="Inter"/>
                <a:cs typeface="Inter"/>
                <a:sym typeface="Inter"/>
              </a:rPr>
              <a:t>T: 1900 561 595 | F: 1900 561 595</a:t>
            </a:r>
            <a:endParaRPr>
              <a:latin typeface="Montserrat" panose="00000500000000000000" pitchFamily="2" charset="-93"/>
            </a:endParaRPr>
          </a:p>
        </p:txBody>
      </p:sp>
      <p:sp>
        <p:nvSpPr>
          <p:cNvPr id="509" name="Google Shape;509;p37"/>
          <p:cNvSpPr txBox="1"/>
          <p:nvPr/>
        </p:nvSpPr>
        <p:spPr>
          <a:xfrm>
            <a:off x="4672012" y="4894808"/>
            <a:ext cx="284797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Montserrat" panose="00000500000000000000" pitchFamily="2" charset="-93"/>
                <a:ea typeface="Inter"/>
                <a:cs typeface="Inter"/>
                <a:sym typeface="Inter"/>
              </a:rPr>
              <a:t>E: truyenthong@hvnh.edu.vn</a:t>
            </a:r>
            <a:endParaRPr>
              <a:latin typeface="Montserrat" panose="00000500000000000000" pitchFamily="2" charset="-93"/>
            </a:endParaRPr>
          </a:p>
        </p:txBody>
      </p:sp>
      <p:sp>
        <p:nvSpPr>
          <p:cNvPr id="510" name="Google Shape;510;p37"/>
          <p:cNvSpPr txBox="1"/>
          <p:nvPr/>
        </p:nvSpPr>
        <p:spPr>
          <a:xfrm>
            <a:off x="4672012" y="5085308"/>
            <a:ext cx="2847975"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FFFFFF"/>
                </a:solidFill>
                <a:latin typeface="Montserrat" panose="00000500000000000000" pitchFamily="2" charset="-93"/>
                <a:ea typeface="Inter"/>
                <a:cs typeface="Inter"/>
                <a:sym typeface="Inter"/>
              </a:rPr>
              <a:t>W: www.hvnh.edu.vn</a:t>
            </a:r>
            <a:endParaRPr>
              <a:latin typeface="Montserrat" panose="00000500000000000000" pitchFamily="2" charset="-93"/>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538</TotalTime>
  <Words>2652</Words>
  <Application>Microsoft Office PowerPoint</Application>
  <PresentationFormat>Widescreen</PresentationFormat>
  <Paragraphs>291</Paragraphs>
  <Slides>32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Montserrat SemiBold</vt:lpstr>
      <vt:lpstr>Open Sans</vt:lpstr>
      <vt:lpstr>Arial</vt:lpstr>
      <vt:lpstr>Calibri</vt:lpstr>
      <vt:lpstr>Montserrat</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Duy Nguyễn</cp:lastModifiedBy>
  <cp:revision>16</cp:revision>
  <dcterms:modified xsi:type="dcterms:W3CDTF">2026-06-12T04:42:41Z</dcterms:modified>
</cp:coreProperties>
</file>